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8" r:id="rId4"/>
    <p:sldId id="259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8753B-B11A-45D0-B7CE-DCB55416EB41}" v="21" dt="2026-05-09T17:34:25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203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mi Bhat Kekanaje" userId="33b2e9ea-e347-4a93-907a-aa92300ac3d3" providerId="ADAL" clId="{79AD01B1-C200-4FAB-8E05-6A4BF7F578BF}"/>
    <pc:docChg chg="undo custSel mod addSld delSld modSld modMainMaster">
      <pc:chgData name="Rashmi Bhat Kekanaje" userId="33b2e9ea-e347-4a93-907a-aa92300ac3d3" providerId="ADAL" clId="{79AD01B1-C200-4FAB-8E05-6A4BF7F578BF}" dt="2026-05-10T08:31:01.272" v="291" actId="20577"/>
      <pc:docMkLst>
        <pc:docMk/>
      </pc:docMkLst>
      <pc:sldChg chg="addSp delSp modSp mod">
        <pc:chgData name="Rashmi Bhat Kekanaje" userId="33b2e9ea-e347-4a93-907a-aa92300ac3d3" providerId="ADAL" clId="{79AD01B1-C200-4FAB-8E05-6A4BF7F578BF}" dt="2026-05-09T17:32:58.805" v="225" actId="255"/>
        <pc:sldMkLst>
          <pc:docMk/>
          <pc:sldMk cId="0" sldId="256"/>
        </pc:sldMkLst>
        <pc:spChg chg="mod">
          <ac:chgData name="Rashmi Bhat Kekanaje" userId="33b2e9ea-e347-4a93-907a-aa92300ac3d3" providerId="ADAL" clId="{79AD01B1-C200-4FAB-8E05-6A4BF7F578BF}" dt="2026-05-09T17:30:53.345" v="203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0:58.484" v="204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1:41.441" v="210" actId="6549"/>
          <ac:spMkLst>
            <pc:docMk/>
            <pc:sldMk cId="0" sldId="256"/>
            <ac:spMk id="13" creationId="{00000000-0000-0000-0000-000000000000}"/>
          </ac:spMkLst>
        </pc:spChg>
        <pc:spChg chg="del">
          <ac:chgData name="Rashmi Bhat Kekanaje" userId="33b2e9ea-e347-4a93-907a-aa92300ac3d3" providerId="ADAL" clId="{79AD01B1-C200-4FAB-8E05-6A4BF7F578BF}" dt="2026-05-09T17:31:58.894" v="214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Rashmi Bhat Kekanaje" userId="33b2e9ea-e347-4a93-907a-aa92300ac3d3" providerId="ADAL" clId="{79AD01B1-C200-4FAB-8E05-6A4BF7F578BF}" dt="2026-05-09T17:32:13.562" v="217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Rashmi Bhat Kekanaje" userId="33b2e9ea-e347-4a93-907a-aa92300ac3d3" providerId="ADAL" clId="{79AD01B1-C200-4FAB-8E05-6A4BF7F578BF}" dt="2026-05-09T17:32:22.494" v="220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1:04.703" v="205" actId="255"/>
          <ac:spMkLst>
            <pc:docMk/>
            <pc:sldMk cId="0" sldId="256"/>
            <ac:spMk id="17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6:55:11.867" v="48" actId="1038"/>
          <ac:spMkLst>
            <pc:docMk/>
            <pc:sldMk cId="0" sldId="256"/>
            <ac:spMk id="18" creationId="{00000000-0000-0000-0000-000000000000}"/>
          </ac:spMkLst>
        </pc:spChg>
        <pc:spChg chg="add del">
          <ac:chgData name="Rashmi Bhat Kekanaje" userId="33b2e9ea-e347-4a93-907a-aa92300ac3d3" providerId="ADAL" clId="{79AD01B1-C200-4FAB-8E05-6A4BF7F578BF}" dt="2026-05-09T17:31:25.924" v="207" actId="22"/>
          <ac:spMkLst>
            <pc:docMk/>
            <pc:sldMk cId="0" sldId="256"/>
            <ac:spMk id="20" creationId="{3EB681E8-3B32-AA67-3613-18DE6615DA9B}"/>
          </ac:spMkLst>
        </pc:spChg>
        <pc:spChg chg="add mod">
          <ac:chgData name="Rashmi Bhat Kekanaje" userId="33b2e9ea-e347-4a93-907a-aa92300ac3d3" providerId="ADAL" clId="{79AD01B1-C200-4FAB-8E05-6A4BF7F578BF}" dt="2026-05-09T17:32:32.840" v="222" actId="255"/>
          <ac:spMkLst>
            <pc:docMk/>
            <pc:sldMk cId="0" sldId="256"/>
            <ac:spMk id="21" creationId="{00000000-0000-0000-0000-000000000000}"/>
          </ac:spMkLst>
        </pc:spChg>
        <pc:spChg chg="add mod">
          <ac:chgData name="Rashmi Bhat Kekanaje" userId="33b2e9ea-e347-4a93-907a-aa92300ac3d3" providerId="ADAL" clId="{79AD01B1-C200-4FAB-8E05-6A4BF7F578BF}" dt="2026-05-09T17:32:44.880" v="223" actId="255"/>
          <ac:spMkLst>
            <pc:docMk/>
            <pc:sldMk cId="0" sldId="256"/>
            <ac:spMk id="22" creationId="{00000000-0000-0000-0000-000000000000}"/>
          </ac:spMkLst>
        </pc:spChg>
        <pc:spChg chg="add mod">
          <ac:chgData name="Rashmi Bhat Kekanaje" userId="33b2e9ea-e347-4a93-907a-aa92300ac3d3" providerId="ADAL" clId="{79AD01B1-C200-4FAB-8E05-6A4BF7F578BF}" dt="2026-05-09T17:32:51.359" v="224" actId="255"/>
          <ac:spMkLst>
            <pc:docMk/>
            <pc:sldMk cId="0" sldId="256"/>
            <ac:spMk id="23" creationId="{00000000-0000-0000-0000-000000000000}"/>
          </ac:spMkLst>
        </pc:spChg>
        <pc:spChg chg="add mod">
          <ac:chgData name="Rashmi Bhat Kekanaje" userId="33b2e9ea-e347-4a93-907a-aa92300ac3d3" providerId="ADAL" clId="{79AD01B1-C200-4FAB-8E05-6A4BF7F578BF}" dt="2026-05-09T17:32:58.805" v="225" actId="255"/>
          <ac:spMkLst>
            <pc:docMk/>
            <pc:sldMk cId="0" sldId="256"/>
            <ac:spMk id="24" creationId="{00000000-0000-0000-0000-000000000000}"/>
          </ac:spMkLst>
        </pc:spChg>
      </pc:sldChg>
      <pc:sldChg chg="modSp del mod">
        <pc:chgData name="Rashmi Bhat Kekanaje" userId="33b2e9ea-e347-4a93-907a-aa92300ac3d3" providerId="ADAL" clId="{79AD01B1-C200-4FAB-8E05-6A4BF7F578BF}" dt="2026-05-09T17:30:34.388" v="202" actId="2696"/>
        <pc:sldMkLst>
          <pc:docMk/>
          <pc:sldMk cId="0" sldId="257"/>
        </pc:sldMkLst>
        <pc:spChg chg="mod">
          <ac:chgData name="Rashmi Bhat Kekanaje" userId="33b2e9ea-e347-4a93-907a-aa92300ac3d3" providerId="ADAL" clId="{79AD01B1-C200-4FAB-8E05-6A4BF7F578BF}" dt="2026-05-09T17:13:09.613" v="175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13:18.617" v="176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12:49.612" v="173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13:27.574" v="177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13:35.410" v="178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6:55:04.893" v="45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Rashmi Bhat Kekanaje" userId="33b2e9ea-e347-4a93-907a-aa92300ac3d3" providerId="ADAL" clId="{79AD01B1-C200-4FAB-8E05-6A4BF7F578BF}" dt="2026-05-10T08:31:01.272" v="291" actId="20577"/>
        <pc:sldMkLst>
          <pc:docMk/>
          <pc:sldMk cId="0" sldId="258"/>
        </pc:sldMkLst>
        <pc:spChg chg="mod">
          <ac:chgData name="Rashmi Bhat Kekanaje" userId="33b2e9ea-e347-4a93-907a-aa92300ac3d3" providerId="ADAL" clId="{79AD01B1-C200-4FAB-8E05-6A4BF7F578BF}" dt="2026-05-10T08:31:01.272" v="291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1:03.519" v="271" actId="255"/>
          <ac:spMkLst>
            <pc:docMk/>
            <pc:sldMk cId="0" sldId="258"/>
            <ac:spMk id="5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0:56.627" v="270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3:15.114" v="288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6:55:24.423" v="78" actId="20577"/>
          <ac:spMkLst>
            <pc:docMk/>
            <pc:sldMk cId="0" sldId="258"/>
            <ac:spMk id="8" creationId="{00000000-0000-0000-0000-000000000000}"/>
          </ac:spMkLst>
        </pc:spChg>
      </pc:sldChg>
      <pc:sldChg chg="addSp delSp modSp mod">
        <pc:chgData name="Rashmi Bhat Kekanaje" userId="33b2e9ea-e347-4a93-907a-aa92300ac3d3" providerId="ADAL" clId="{79AD01B1-C200-4FAB-8E05-6A4BF7F578BF}" dt="2026-05-09T17:41:29.050" v="274" actId="255"/>
        <pc:sldMkLst>
          <pc:docMk/>
          <pc:sldMk cId="0" sldId="259"/>
        </pc:sldMkLst>
        <pc:spChg chg="mod">
          <ac:chgData name="Rashmi Bhat Kekanaje" userId="33b2e9ea-e347-4a93-907a-aa92300ac3d3" providerId="ADAL" clId="{79AD01B1-C200-4FAB-8E05-6A4BF7F578BF}" dt="2026-05-09T17:41:20.676" v="273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3:20.615" v="227" actId="255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Rashmi Bhat Kekanaje" userId="33b2e9ea-e347-4a93-907a-aa92300ac3d3" providerId="ADAL" clId="{79AD01B1-C200-4FAB-8E05-6A4BF7F578BF}" dt="2026-05-09T17:10:05.606" v="158" actId="478"/>
          <ac:spMkLst>
            <pc:docMk/>
            <pc:sldMk cId="0" sldId="259"/>
            <ac:spMk id="6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1:29.050" v="274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6:55:38.494" v="108" actId="20577"/>
          <ac:spMkLst>
            <pc:docMk/>
            <pc:sldMk cId="0" sldId="259"/>
            <ac:spMk id="8" creationId="{00000000-0000-0000-0000-000000000000}"/>
          </ac:spMkLst>
        </pc:spChg>
        <pc:spChg chg="add del">
          <ac:chgData name="Rashmi Bhat Kekanaje" userId="33b2e9ea-e347-4a93-907a-aa92300ac3d3" providerId="ADAL" clId="{79AD01B1-C200-4FAB-8E05-6A4BF7F578BF}" dt="2026-05-09T17:09:21.608" v="154" actId="22"/>
          <ac:spMkLst>
            <pc:docMk/>
            <pc:sldMk cId="0" sldId="259"/>
            <ac:spMk id="10" creationId="{96B3C1CC-FA30-B6D8-4BC8-23A58F1F55B3}"/>
          </ac:spMkLst>
        </pc:spChg>
        <pc:spChg chg="add mod">
          <ac:chgData name="Rashmi Bhat Kekanaje" userId="33b2e9ea-e347-4a93-907a-aa92300ac3d3" providerId="ADAL" clId="{79AD01B1-C200-4FAB-8E05-6A4BF7F578BF}" dt="2026-05-09T17:33:47.641" v="230" actId="255"/>
          <ac:spMkLst>
            <pc:docMk/>
            <pc:sldMk cId="0" sldId="259"/>
            <ac:spMk id="12" creationId="{00000000-0000-0000-0000-000000000000}"/>
          </ac:spMkLst>
        </pc:spChg>
        <pc:graphicFrameChg chg="add mod modGraphic">
          <ac:chgData name="Rashmi Bhat Kekanaje" userId="33b2e9ea-e347-4a93-907a-aa92300ac3d3" providerId="ADAL" clId="{79AD01B1-C200-4FAB-8E05-6A4BF7F578BF}" dt="2026-05-09T17:33:26.208" v="228" actId="255"/>
          <ac:graphicFrameMkLst>
            <pc:docMk/>
            <pc:sldMk cId="0" sldId="259"/>
            <ac:graphicFrameMk id="11" creationId="{00000000-0000-0000-0000-000000000000}"/>
          </ac:graphicFrameMkLst>
        </pc:graphicFrameChg>
      </pc:sldChg>
      <pc:sldChg chg="modSp del mod">
        <pc:chgData name="Rashmi Bhat Kekanaje" userId="33b2e9ea-e347-4a93-907a-aa92300ac3d3" providerId="ADAL" clId="{79AD01B1-C200-4FAB-8E05-6A4BF7F578BF}" dt="2026-05-09T17:34:42.801" v="235" actId="2696"/>
        <pc:sldMkLst>
          <pc:docMk/>
          <pc:sldMk cId="0" sldId="260"/>
        </pc:sldMkLst>
        <pc:spChg chg="mod">
          <ac:chgData name="Rashmi Bhat Kekanaje" userId="33b2e9ea-e347-4a93-907a-aa92300ac3d3" providerId="ADAL" clId="{79AD01B1-C200-4FAB-8E05-6A4BF7F578BF}" dt="2026-05-09T16:57:12.490" v="147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6:56:40.154" v="143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6:56:45.706" v="144" actId="2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6:56:55.588" v="145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6:57:02.292" v="146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4:12.628" v="233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4:04.552" v="232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3:58.970" v="231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6:55:50.777" v="138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 add mod">
        <pc:chgData name="Rashmi Bhat Kekanaje" userId="33b2e9ea-e347-4a93-907a-aa92300ac3d3" providerId="ADAL" clId="{79AD01B1-C200-4FAB-8E05-6A4BF7F578BF}" dt="2026-05-09T17:40:39.608" v="268" actId="255"/>
        <pc:sldMkLst>
          <pc:docMk/>
          <pc:sldMk cId="0" sldId="261"/>
        </pc:sldMkLst>
        <pc:spChg chg="mod">
          <ac:chgData name="Rashmi Bhat Kekanaje" userId="33b2e9ea-e347-4a93-907a-aa92300ac3d3" providerId="ADAL" clId="{79AD01B1-C200-4FAB-8E05-6A4BF7F578BF}" dt="2026-05-09T17:40:01.114" v="267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29:14.594" v="191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8:10.234" v="260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0:39.608" v="268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0:39.608" v="268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0:39.608" v="268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0:39.608" v="268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0:39.608" v="268" actId="2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8:14.727" v="261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8:37.373" v="264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8:45.406" v="265" actId="1076"/>
          <ac:spMkLst>
            <pc:docMk/>
            <pc:sldMk cId="0" sldId="261"/>
            <ac:spMk id="13" creationId="{00000000-0000-0000-0000-000000000000}"/>
          </ac:spMkLst>
        </pc:spChg>
        <pc:graphicFrameChg chg="mod modGraphic">
          <ac:chgData name="Rashmi Bhat Kekanaje" userId="33b2e9ea-e347-4a93-907a-aa92300ac3d3" providerId="ADAL" clId="{79AD01B1-C200-4FAB-8E05-6A4BF7F578BF}" dt="2026-05-09T17:29:59.666" v="197" actId="1076"/>
          <ac:graphicFrameMkLst>
            <pc:docMk/>
            <pc:sldMk cId="0" sldId="261"/>
            <ac:graphicFrameMk id="11" creationId="{00000000-0000-0000-0000-000000000000}"/>
          </ac:graphicFrameMkLst>
        </pc:graphicFrameChg>
      </pc:sldChg>
      <pc:sldChg chg="delSp modSp add del mod">
        <pc:chgData name="Rashmi Bhat Kekanaje" userId="33b2e9ea-e347-4a93-907a-aa92300ac3d3" providerId="ADAL" clId="{79AD01B1-C200-4FAB-8E05-6A4BF7F578BF}" dt="2026-05-10T08:29:59.580" v="290" actId="20577"/>
        <pc:sldMkLst>
          <pc:docMk/>
          <pc:sldMk cId="0" sldId="262"/>
        </pc:sldMkLst>
        <pc:spChg chg="mod">
          <ac:chgData name="Rashmi Bhat Kekanaje" userId="33b2e9ea-e347-4a93-907a-aa92300ac3d3" providerId="ADAL" clId="{79AD01B1-C200-4FAB-8E05-6A4BF7F578BF}" dt="2026-05-09T17:42:35.257" v="283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2:40.483" v="284" actId="255"/>
          <ac:spMkLst>
            <pc:docMk/>
            <pc:sldMk cId="0" sldId="262"/>
            <ac:spMk id="6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42:45.626" v="285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6:09.061" v="243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6:14.697" v="244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6:20.125" v="245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ashmi Bhat Kekanaje" userId="33b2e9ea-e347-4a93-907a-aa92300ac3d3" providerId="ADAL" clId="{79AD01B1-C200-4FAB-8E05-6A4BF7F578BF}" dt="2026-05-09T17:36:26.004" v="246" actId="255"/>
          <ac:spMkLst>
            <pc:docMk/>
            <pc:sldMk cId="0" sldId="262"/>
            <ac:spMk id="12" creationId="{00000000-0000-0000-0000-000000000000}"/>
          </ac:spMkLst>
        </pc:spChg>
        <pc:spChg chg="del mod">
          <ac:chgData name="Rashmi Bhat Kekanaje" userId="33b2e9ea-e347-4a93-907a-aa92300ac3d3" providerId="ADAL" clId="{79AD01B1-C200-4FAB-8E05-6A4BF7F578BF}" dt="2026-05-09T17:41:46.595" v="275" actId="255"/>
          <ac:spMkLst>
            <pc:docMk/>
            <pc:sldMk cId="0" sldId="262"/>
            <ac:spMk id="13" creationId="{00000000-0000-0000-0000-000000000000}"/>
          </ac:spMkLst>
        </pc:spChg>
        <pc:spChg chg="del mod">
          <ac:chgData name="Rashmi Bhat Kekanaje" userId="33b2e9ea-e347-4a93-907a-aa92300ac3d3" providerId="ADAL" clId="{79AD01B1-C200-4FAB-8E05-6A4BF7F578BF}" dt="2026-05-09T17:41:52.830" v="276" actId="255"/>
          <ac:spMkLst>
            <pc:docMk/>
            <pc:sldMk cId="0" sldId="262"/>
            <ac:spMk id="14" creationId="{00000000-0000-0000-0000-000000000000}"/>
          </ac:spMkLst>
        </pc:spChg>
        <pc:spChg chg="del mod">
          <ac:chgData name="Rashmi Bhat Kekanaje" userId="33b2e9ea-e347-4a93-907a-aa92300ac3d3" providerId="ADAL" clId="{79AD01B1-C200-4FAB-8E05-6A4BF7F578BF}" dt="2026-05-10T08:29:59.580" v="290" actId="20577"/>
          <ac:spMkLst>
            <pc:docMk/>
            <pc:sldMk cId="0" sldId="262"/>
            <ac:spMk id="15" creationId="{00000000-0000-0000-0000-000000000000}"/>
          </ac:spMkLst>
        </pc:spChg>
        <pc:spChg chg="del mod">
          <ac:chgData name="Rashmi Bhat Kekanaje" userId="33b2e9ea-e347-4a93-907a-aa92300ac3d3" providerId="ADAL" clId="{79AD01B1-C200-4FAB-8E05-6A4BF7F578BF}" dt="2026-05-09T17:42:17.157" v="282" actId="20577"/>
          <ac:spMkLst>
            <pc:docMk/>
            <pc:sldMk cId="0" sldId="262"/>
            <ac:spMk id="16" creationId="{00000000-0000-0000-0000-000000000000}"/>
          </ac:spMkLst>
        </pc:spChg>
      </pc:sldChg>
      <pc:sldMasterChg chg="addSp delSp mod">
        <pc:chgData name="Rashmi Bhat Kekanaje" userId="33b2e9ea-e347-4a93-907a-aa92300ac3d3" providerId="ADAL" clId="{79AD01B1-C200-4FAB-8E05-6A4BF7F578BF}" dt="2026-05-09T16:54:46.046" v="13" actId="33475"/>
        <pc:sldMasterMkLst>
          <pc:docMk/>
          <pc:sldMasterMk cId="2209977519" sldId="2147483648"/>
        </pc:sldMasterMkLst>
        <pc:spChg chg="add del">
          <ac:chgData name="Rashmi Bhat Kekanaje" userId="33b2e9ea-e347-4a93-907a-aa92300ac3d3" providerId="ADAL" clId="{79AD01B1-C200-4FAB-8E05-6A4BF7F578BF}" dt="2026-05-09T16:54:46.046" v="13" actId="33475"/>
          <ac:spMkLst>
            <pc:docMk/>
            <pc:sldMasterMk cId="2209977519" sldId="2147483648"/>
            <ac:spMk id="9" creationId="{1DFC842F-8CA8-54AF-5F71-2BAF54CD2024}"/>
          </ac:spMkLst>
        </pc:spChg>
        <pc:spChg chg="add del">
          <ac:chgData name="Rashmi Bhat Kekanaje" userId="33b2e9ea-e347-4a93-907a-aa92300ac3d3" providerId="ADAL" clId="{79AD01B1-C200-4FAB-8E05-6A4BF7F578BF}" dt="2026-05-09T16:54:46.046" v="13" actId="33475"/>
          <ac:spMkLst>
            <pc:docMk/>
            <pc:sldMasterMk cId="2209977519" sldId="2147483648"/>
            <ac:spMk id="10" creationId="{82201481-32A1-25BD-54CE-5039FEC36B57}"/>
          </ac:spMkLst>
        </pc:sp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33A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SLIDE 1: Problem Statement &amp; Agentic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457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Manufacturing OTIF | Rolling Horizon W1-W4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4114800" cy="1359346"/>
          </a:xfrm>
          <a:prstGeom prst="rect">
            <a:avLst/>
          </a:prstGeom>
          <a:noFill/>
          <a:ln w="38100">
            <a:solidFill>
              <a:srgbClr val="DC3545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C3545"/>
                </a:solidFill>
              </a:defRPr>
            </a:pPr>
            <a:r>
              <a:rPr dirty="0"/>
              <a:t>THE PROBLEM</a:t>
            </a:r>
          </a:p>
          <a:p>
            <a:pPr>
              <a:spcAft>
                <a:spcPts val="400"/>
              </a:spcAft>
              <a:defRPr sz="900"/>
            </a:pPr>
            <a:r>
              <a:rPr sz="1000" dirty="0"/>
              <a:t>• Delivery misses: equipment downtime, UPH degradation, WIP bottlenecks</a:t>
            </a:r>
          </a:p>
          <a:p>
            <a:pPr>
              <a:spcAft>
                <a:spcPts val="400"/>
              </a:spcAft>
              <a:defRPr sz="900"/>
            </a:pPr>
            <a:r>
              <a:rPr sz="1000" dirty="0"/>
              <a:t>• Manual monitoring across MES/ERP/equipment by planners/IE</a:t>
            </a:r>
          </a:p>
          <a:p>
            <a:pPr>
              <a:spcAft>
                <a:spcPts val="400"/>
              </a:spcAft>
              <a:defRPr sz="900"/>
            </a:pPr>
            <a:r>
              <a:rPr sz="1000" dirty="0"/>
              <a:t>• Product mix complexity: shifting bottlenecks</a:t>
            </a:r>
          </a:p>
          <a:p>
            <a:pPr>
              <a:spcAft>
                <a:spcPts val="400"/>
              </a:spcAft>
              <a:defRPr sz="900"/>
            </a:pPr>
            <a:r>
              <a:rPr sz="1000" dirty="0"/>
              <a:t>• Local optimization harms downstream weeks (fix W1 → hurt W2-W4)</a:t>
            </a:r>
          </a:p>
          <a:p>
            <a:pPr>
              <a:spcAft>
                <a:spcPts val="400"/>
              </a:spcAft>
              <a:defRPr sz="900"/>
            </a:pPr>
            <a:r>
              <a:rPr sz="1000" dirty="0"/>
              <a:t>• No traceability for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731520"/>
            <a:ext cx="4206240" cy="1500411"/>
          </a:xfrm>
          <a:prstGeom prst="rect">
            <a:avLst/>
          </a:prstGeom>
          <a:noFill/>
          <a:ln w="38100">
            <a:solidFill>
              <a:srgbClr val="009688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688"/>
                </a:solidFill>
              </a:defRPr>
            </a:pPr>
            <a:r>
              <a:rPr dirty="0"/>
              <a:t>THE SOLUTION: 6-AGENT SYSTEM</a:t>
            </a:r>
          </a:p>
          <a:p>
            <a:pPr>
              <a:spcAft>
                <a:spcPts val="300"/>
              </a:spcAft>
              <a:defRPr sz="900"/>
            </a:pPr>
            <a:r>
              <a:rPr sz="1000" dirty="0"/>
              <a:t>1. Data Quality: Freshness, keys, sanity</a:t>
            </a:r>
          </a:p>
          <a:p>
            <a:pPr>
              <a:spcAft>
                <a:spcPts val="300"/>
              </a:spcAft>
              <a:defRPr sz="900"/>
            </a:pPr>
            <a:r>
              <a:rPr sz="1000" dirty="0"/>
              <a:t>2. Risk Detection: OTIF gap × WIP × capacity</a:t>
            </a:r>
          </a:p>
          <a:p>
            <a:pPr>
              <a:spcAft>
                <a:spcPts val="300"/>
              </a:spcAft>
              <a:defRPr sz="900"/>
            </a:pPr>
            <a:r>
              <a:rPr sz="1000" dirty="0"/>
              <a:t>3. Cause Classifier: LLM+RAG: 6 categories</a:t>
            </a:r>
          </a:p>
          <a:p>
            <a:pPr>
              <a:spcAft>
                <a:spcPts val="300"/>
              </a:spcAft>
              <a:defRPr sz="900"/>
            </a:pPr>
            <a:r>
              <a:rPr sz="1000" dirty="0"/>
              <a:t>4. Follow-Up: Auto-ping with SLA</a:t>
            </a:r>
          </a:p>
          <a:p>
            <a:pPr>
              <a:spcAft>
                <a:spcPts val="300"/>
              </a:spcAft>
              <a:defRPr sz="900"/>
            </a:pPr>
            <a:r>
              <a:rPr sz="1000" dirty="0"/>
              <a:t>5. Trade-Off Engine: OR-Tools simulation</a:t>
            </a:r>
          </a:p>
          <a:p>
            <a:pPr>
              <a:spcAft>
                <a:spcPts val="300"/>
              </a:spcAft>
              <a:defRPr sz="900"/>
            </a:pPr>
            <a:r>
              <a:rPr sz="1000" dirty="0"/>
              <a:t>6. Action &amp; Audit: Execute + audit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6517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233A"/>
                </a:solidFill>
              </a:defRPr>
            </a:pPr>
            <a:r>
              <a:rPr dirty="0"/>
              <a:t>END-TO-END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017520"/>
            <a:ext cx="1188720" cy="411480"/>
          </a:xfrm>
          <a:prstGeom prst="rect">
            <a:avLst/>
          </a:prstGeom>
          <a:solidFill>
            <a:srgbClr val="0D233A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1188720" cy="411480"/>
          </a:xfrm>
          <a:prstGeom prst="rect">
            <a:avLst/>
          </a:prstGeom>
          <a:solidFill>
            <a:srgbClr val="DC3545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017520"/>
            <a:ext cx="1188720" cy="411480"/>
          </a:xfrm>
          <a:prstGeom prst="rect">
            <a:avLst/>
          </a:prstGeom>
          <a:solidFill>
            <a:srgbClr val="009688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CLASSIFY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1188720" cy="411480"/>
          </a:xfrm>
          <a:prstGeom prst="rect">
            <a:avLst/>
          </a:prstGeom>
          <a:solidFill>
            <a:srgbClr val="FF9800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FOLLOW-UP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017520"/>
            <a:ext cx="1188720" cy="411480"/>
          </a:xfrm>
          <a:prstGeom prst="rect">
            <a:avLst/>
          </a:prstGeom>
          <a:solidFill>
            <a:srgbClr val="4CAF50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017520"/>
            <a:ext cx="1188720" cy="411480"/>
          </a:xfrm>
          <a:prstGeom prst="rect">
            <a:avLst/>
          </a:prstGeom>
          <a:solidFill>
            <a:srgbClr val="9C27B0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566160"/>
            <a:ext cx="2011680" cy="394980"/>
          </a:xfrm>
          <a:prstGeom prst="rect">
            <a:avLst/>
          </a:prstGeom>
          <a:solidFill>
            <a:srgbClr val="9C27B0"/>
          </a:solidFill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rPr dirty="0"/>
              <a:t>W1 EXECUTE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rPr dirty="0"/>
              <a:t>Real-</a:t>
            </a:r>
            <a:r>
              <a:rPr dirty="0" err="1"/>
              <a:t>tim</a:t>
            </a:r>
            <a:r>
              <a:rPr dirty="0"/>
              <a:t> | Queue busters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23933"/>
            <a:ext cx="8697402" cy="1072088"/>
          </a:xfrm>
          <a:prstGeom prst="rect">
            <a:avLst/>
          </a:prstGeom>
          <a:noFill/>
          <a:ln w="25400">
            <a:solidFill>
              <a:srgbClr val="DC3545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DC3545"/>
                </a:solidFill>
              </a:defRPr>
            </a:pPr>
            <a:r>
              <a:rPr dirty="0"/>
              <a:t>FAILURE MODES &amp; FALLBACKS</a:t>
            </a:r>
          </a:p>
          <a:p>
            <a:pPr>
              <a:spcAft>
                <a:spcPts val="300"/>
              </a:spcAft>
              <a:defRPr sz="900"/>
            </a:pPr>
            <a:r>
              <a:rPr sz="1000" dirty="0"/>
              <a:t>• Kafka down: PostgreSQL CDC (30-sec lag) + DEGRADED MODE banner</a:t>
            </a:r>
          </a:p>
          <a:p>
            <a:pPr>
              <a:spcAft>
                <a:spcPts val="300"/>
              </a:spcAft>
              <a:defRPr sz="900"/>
            </a:pPr>
            <a:r>
              <a:rPr sz="1000" dirty="0"/>
              <a:t>• LLM timeout: 3 retries → escalate to human classification</a:t>
            </a:r>
          </a:p>
          <a:p>
            <a:pPr>
              <a:spcAft>
                <a:spcPts val="300"/>
              </a:spcAft>
              <a:defRPr sz="900"/>
            </a:pPr>
            <a:r>
              <a:rPr sz="1000" dirty="0"/>
              <a:t>• Stale data: Block auto-execute + MANUAL MODE alert</a:t>
            </a:r>
          </a:p>
          <a:p>
            <a:pPr>
              <a:spcAft>
                <a:spcPts val="300"/>
              </a:spcAft>
              <a:defRPr sz="900"/>
            </a:pPr>
            <a:r>
              <a:rPr sz="1000" dirty="0"/>
              <a:t>• No feasible solution: Alert planner with constraint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9574" y="6583680"/>
            <a:ext cx="15648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rPr dirty="0"/>
              <a:t>Agentic AI for Delivery Assurance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566160"/>
            <a:ext cx="2011680" cy="548640"/>
          </a:xfrm>
          <a:prstGeom prst="rect">
            <a:avLst/>
          </a:prstGeom>
          <a:solidFill>
            <a:srgbClr val="9C27B0"/>
          </a:solidFill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rPr dirty="0"/>
              <a:t>W1 EXECUTE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rPr sz="900" dirty="0"/>
              <a:t>0-7 days | Every 2 hrs | Queue busters, expedites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19" y="3566160"/>
            <a:ext cx="2011680" cy="548640"/>
          </a:xfrm>
          <a:prstGeom prst="rect">
            <a:avLst/>
          </a:prstGeom>
          <a:solidFill>
            <a:srgbClr val="0066CC"/>
          </a:solidFill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rPr dirty="0"/>
              <a:t>W2 RECOVER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rPr sz="900" dirty="0"/>
              <a:t>7-14 days | Every 2 hrs | Re-sequence, maintenance 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566160"/>
            <a:ext cx="2011680" cy="548640"/>
          </a:xfrm>
          <a:prstGeom prst="rect">
            <a:avLst/>
          </a:prstGeom>
          <a:solidFill>
            <a:srgbClr val="009688"/>
          </a:solidFill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rPr dirty="0"/>
              <a:t>W3 PLAN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rPr sz="900" dirty="0"/>
              <a:t>14-21 days | 3x/week | Mix balance, build-ahead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566160"/>
            <a:ext cx="2011680" cy="548640"/>
          </a:xfrm>
          <a:prstGeom prst="rect">
            <a:avLst/>
          </a:prstGeom>
          <a:solidFill>
            <a:srgbClr val="FF9800"/>
          </a:solidFill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rPr dirty="0"/>
              <a:t>W4 BALANCE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rPr sz="900" dirty="0"/>
              <a:t>21-28 days | 3x/week | Strategic buffers, demand shaping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203635" cy="400110"/>
          </a:xfrm>
          <a:prstGeom prst="rect">
            <a:avLst/>
          </a:prstGeom>
          <a:solidFill>
            <a:srgbClr val="0D233A"/>
          </a:solidFill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sz="2000" dirty="0"/>
              <a:t>SLIDE 2: Data Architecture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5668" y="45720"/>
            <a:ext cx="22268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rPr sz="1000"/>
              <a:t>Kafka | CDC | Vector DB | TimescaleDB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59502"/>
            <a:ext cx="20316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233A"/>
                </a:solidFill>
              </a:defRPr>
            </a:pPr>
            <a:r>
              <a:rPr sz="1200" dirty="0"/>
              <a:t>DATA SOURCES &amp;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508760" cy="931024"/>
          </a:xfrm>
          <a:prstGeom prst="rect">
            <a:avLst/>
          </a:prstGeom>
          <a:noFill/>
          <a:ln w="25400">
            <a:solidFill>
              <a:srgbClr val="009688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09688"/>
                </a:solidFill>
              </a:defRPr>
            </a:pPr>
            <a:r>
              <a:rPr sz="1200" dirty="0"/>
              <a:t>MES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 err="1"/>
              <a:t>Debezium</a:t>
            </a:r>
            <a:r>
              <a:rPr sz="1000" dirty="0"/>
              <a:t> CDC → Kafka (</a:t>
            </a:r>
            <a:r>
              <a:rPr sz="1000" dirty="0" err="1"/>
              <a:t>mes.wip.changes</a:t>
            </a:r>
            <a:r>
              <a:rPr sz="1000" dirty="0"/>
              <a:t>)</a:t>
            </a:r>
            <a:br>
              <a:rPr sz="1000" dirty="0"/>
            </a:br>
            <a:r>
              <a:rPr sz="1000" dirty="0"/>
              <a:t>Avro | 2-hour batch (W1)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05840"/>
            <a:ext cx="1508760" cy="777136"/>
          </a:xfrm>
          <a:prstGeom prst="rect">
            <a:avLst/>
          </a:prstGeom>
          <a:noFill/>
          <a:ln w="25400">
            <a:solidFill>
              <a:srgbClr val="FF98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9800"/>
                </a:solidFill>
              </a:defRPr>
            </a:pPr>
            <a:r>
              <a:rPr sz="1200" dirty="0"/>
              <a:t>Equipment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MQTT (</a:t>
            </a:r>
            <a:r>
              <a:rPr sz="1000" dirty="0" err="1"/>
              <a:t>HiveMQ</a:t>
            </a:r>
            <a:r>
              <a:rPr sz="1000" dirty="0"/>
              <a:t>) → Kafka</a:t>
            </a:r>
            <a:br>
              <a:rPr sz="1000" dirty="0"/>
            </a:br>
            <a:r>
              <a:rPr sz="1000" dirty="0" err="1"/>
              <a:t>Protobuf</a:t>
            </a:r>
            <a:r>
              <a:rPr sz="1000" dirty="0"/>
              <a:t> | Event-driven &lt;100ms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005840"/>
            <a:ext cx="1508760" cy="931024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196F3"/>
                </a:solidFill>
              </a:defRPr>
            </a:pPr>
            <a:r>
              <a:rPr sz="1200" dirty="0"/>
              <a:t>ERP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Airflow DAG → S3 → Kafka</a:t>
            </a:r>
            <a:br>
              <a:rPr sz="1000" dirty="0"/>
            </a:br>
            <a:r>
              <a:rPr sz="1000" dirty="0"/>
              <a:t>Parquet | Daily on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005840"/>
            <a:ext cx="1508760" cy="777136"/>
          </a:xfrm>
          <a:prstGeom prst="rect">
            <a:avLst/>
          </a:prstGeom>
          <a:noFill/>
          <a:ln w="25400">
            <a:solidFill>
              <a:srgbClr val="4CAF5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4CAF50"/>
                </a:solidFill>
              </a:defRPr>
            </a:pPr>
            <a:r>
              <a:rPr sz="1200" dirty="0"/>
              <a:t>Quality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REST API → Kafka</a:t>
            </a:r>
            <a:br>
              <a:rPr sz="1000" dirty="0"/>
            </a:br>
            <a:r>
              <a:rPr sz="1000" dirty="0"/>
              <a:t>JSON | Hourly batch + real-time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731520"/>
            <a:ext cx="1920240" cy="1469633"/>
          </a:xfrm>
          <a:prstGeom prst="rect">
            <a:avLst/>
          </a:prstGeom>
          <a:solidFill>
            <a:srgbClr val="F3E5F5"/>
          </a:solidFill>
          <a:ln w="25400">
            <a:solidFill>
              <a:srgbClr val="9C27B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9C27B0"/>
                </a:solidFill>
              </a:defRPr>
            </a:pPr>
            <a:r>
              <a:rPr sz="1200" dirty="0"/>
              <a:t>VECTOR DB (RAG)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• Embedding: embedding model (size TBD)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• Store: chunked appropriately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• Retrieval: Hybrid (dense + BM25), top-k=5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• Use: LLM context for root cause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5784"/>
            <a:ext cx="16506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233A"/>
                </a:solidFill>
              </a:defRPr>
            </a:pPr>
            <a:r>
              <a:rPr sz="1200" dirty="0"/>
              <a:t>KEY TABLES &amp; SCHEMA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353407"/>
              </p:ext>
            </p:extLst>
          </p:nvPr>
        </p:nvGraphicFramePr>
        <p:xfrm>
          <a:off x="274320" y="2428683"/>
          <a:ext cx="8595360" cy="1749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57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Table</a:t>
                      </a:r>
                    </a:p>
                  </a:txBody>
                  <a:tcPr anchor="ctr">
                    <a:solidFill>
                      <a:srgbClr val="0D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Key Fields</a:t>
                      </a:r>
                    </a:p>
                  </a:txBody>
                  <a:tcPr anchor="ctr">
                    <a:solidFill>
                      <a:srgbClr val="0D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Update Freq</a:t>
                      </a:r>
                    </a:p>
                  </a:txBody>
                  <a:tcPr anchor="ctr">
                    <a:solidFill>
                      <a:srgbClr val="0D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575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000"/>
                        <a:t>wip_snapshot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000"/>
                        <a:t>lot_id, product_family, current_step, queue_time_mins, hold_reason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000"/>
                        <a:t>Hourly (W1/W2) / 3hrs (W3/W4)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575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000"/>
                        <a:t>route_master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000"/>
                        <a:t>product_family, step_seq, tool_group, baseline_uph, load_factor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000"/>
                        <a:t>On changes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575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000"/>
                        <a:t>tool_status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000"/>
                        <a:t>tool_id, tool_group, status, eta_recovery, owner_id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000"/>
                        <a:t>Real-time events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575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000"/>
                        <a:t>oee_hourly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000"/>
                        <a:t>tool_group, availability, performance, quality, oee, uph_actual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000"/>
                        <a:t>Hourly rollups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575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rPr sz="1000"/>
                        <a:t>capacity_vs_demand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000" dirty="0" err="1"/>
                        <a:t>week_bucket</a:t>
                      </a:r>
                      <a:r>
                        <a:rPr sz="1000" dirty="0"/>
                        <a:t>, </a:t>
                      </a:r>
                      <a:r>
                        <a:rPr sz="1000" dirty="0" err="1"/>
                        <a:t>tool_group</a:t>
                      </a:r>
                      <a:r>
                        <a:rPr sz="1000" dirty="0"/>
                        <a:t>, </a:t>
                      </a:r>
                      <a:r>
                        <a:rPr sz="1000" dirty="0" err="1"/>
                        <a:t>product_family</a:t>
                      </a:r>
                      <a:r>
                        <a:rPr sz="1000" dirty="0"/>
                        <a:t>, </a:t>
                      </a:r>
                      <a:r>
                        <a:rPr sz="1000" dirty="0" err="1"/>
                        <a:t>gap_units</a:t>
                      </a:r>
                      <a:r>
                        <a:rPr sz="1000" dirty="0"/>
                        <a:t>, </a:t>
                      </a:r>
                      <a:r>
                        <a:rPr sz="1000" dirty="0" err="1"/>
                        <a:t>gap_pct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rPr sz="1000" dirty="0"/>
                        <a:t>4-hr (W1/W2) / Daily (W3/W4)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320" y="4757551"/>
            <a:ext cx="4114800" cy="828432"/>
          </a:xfrm>
          <a:prstGeom prst="rect">
            <a:avLst/>
          </a:prstGeom>
          <a:noFill/>
          <a:ln w="25400">
            <a:solidFill>
              <a:srgbClr val="FF98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9800"/>
                </a:solidFill>
              </a:defRPr>
            </a:pPr>
            <a:r>
              <a:rPr sz="1200" dirty="0"/>
              <a:t>DATA QUALITY CHECKS (Great Expectations)</a:t>
            </a:r>
          </a:p>
          <a:p>
            <a:pPr>
              <a:spcAft>
                <a:spcPts val="200"/>
              </a:spcAft>
              <a:defRPr sz="800"/>
            </a:pPr>
            <a:r>
              <a:rPr sz="1000" dirty="0"/>
              <a:t>• Freshness: MES lag &lt;10 min (W1), &lt;2 </a:t>
            </a:r>
            <a:r>
              <a:rPr sz="1000" dirty="0" err="1"/>
              <a:t>hrs</a:t>
            </a:r>
            <a:r>
              <a:rPr sz="1000" dirty="0"/>
              <a:t> (W2–W4)</a:t>
            </a:r>
          </a:p>
          <a:p>
            <a:pPr>
              <a:spcAft>
                <a:spcPts val="200"/>
              </a:spcAft>
              <a:defRPr sz="800"/>
            </a:pPr>
            <a:r>
              <a:rPr sz="1000" dirty="0"/>
              <a:t>• Missing keys: </a:t>
            </a:r>
            <a:r>
              <a:rPr sz="1000" dirty="0" err="1"/>
              <a:t>lot_id</a:t>
            </a:r>
            <a:r>
              <a:rPr sz="1000" dirty="0"/>
              <a:t> must exist in </a:t>
            </a:r>
            <a:r>
              <a:rPr sz="1000" dirty="0" err="1"/>
              <a:t>route_master</a:t>
            </a:r>
            <a:endParaRPr sz="1000" dirty="0"/>
          </a:p>
          <a:p>
            <a:pPr>
              <a:spcAft>
                <a:spcPts val="200"/>
              </a:spcAft>
              <a:defRPr sz="800"/>
            </a:pPr>
            <a:r>
              <a:rPr sz="1000" dirty="0"/>
              <a:t>• Sanity: UPH ≤2× baseline, queue &lt;7 days, OEE ≤100%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616487"/>
            <a:ext cx="4297680" cy="969496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196F3"/>
                </a:solidFill>
              </a:defRPr>
            </a:pPr>
            <a:r>
              <a:rPr sz="1200" dirty="0"/>
              <a:t>DATA UNIFICATION (JOIN KEYS)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• WIP = Equipment by </a:t>
            </a:r>
            <a:r>
              <a:rPr sz="1000" dirty="0" err="1"/>
              <a:t>lot_id</a:t>
            </a:r>
            <a:r>
              <a:rPr sz="1000" dirty="0"/>
              <a:t>, </a:t>
            </a:r>
            <a:r>
              <a:rPr sz="1000" dirty="0" err="1"/>
              <a:t>step_name</a:t>
            </a:r>
            <a:r>
              <a:rPr sz="1000" dirty="0"/>
              <a:t> → </a:t>
            </a:r>
            <a:r>
              <a:rPr sz="1000" dirty="0" err="1"/>
              <a:t>tool_group</a:t>
            </a:r>
            <a:endParaRPr sz="1000" dirty="0"/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• Demand = WIP: </a:t>
            </a:r>
            <a:r>
              <a:rPr sz="1000" dirty="0" err="1"/>
              <a:t>product_id</a:t>
            </a:r>
            <a:r>
              <a:rPr sz="1000" dirty="0"/>
              <a:t> + </a:t>
            </a:r>
            <a:r>
              <a:rPr sz="1000" dirty="0" err="1"/>
              <a:t>week_bucket</a:t>
            </a:r>
            <a:r>
              <a:rPr sz="1000" dirty="0"/>
              <a:t> → </a:t>
            </a:r>
            <a:r>
              <a:rPr sz="1000" dirty="0" err="1"/>
              <a:t>lot_pipeline</a:t>
            </a:r>
            <a:endParaRPr sz="1000" dirty="0"/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• OEE = Capacity by </a:t>
            </a:r>
            <a:r>
              <a:rPr sz="1000" dirty="0" err="1"/>
              <a:t>tool_group</a:t>
            </a:r>
            <a:r>
              <a:rPr sz="1000" dirty="0"/>
              <a:t> + time → </a:t>
            </a:r>
            <a:r>
              <a:rPr sz="1000" dirty="0" err="1"/>
              <a:t>capacity_gap_pct</a:t>
            </a:r>
            <a:endParaRPr sz="1000" dirty="0"/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• Quality = WIP: </a:t>
            </a:r>
            <a:r>
              <a:rPr sz="1000" dirty="0" err="1"/>
              <a:t>lot_id</a:t>
            </a:r>
            <a:r>
              <a:rPr sz="1000" dirty="0"/>
              <a:t> (drives)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053" y="6583680"/>
            <a:ext cx="340189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rPr sz="1000"/>
              <a:t>Agentic AI for Delivery Assurance | AI-Data Scientist Interview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33A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3: Agent Implementation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5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LangGraph | LangChain | ReAct | OR-Tools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8595360" cy="610424"/>
          </a:xfrm>
          <a:prstGeom prst="rect">
            <a:avLst/>
          </a:prstGeom>
          <a:noFill/>
          <a:ln w="25400">
            <a:solidFill>
              <a:srgbClr val="009688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rPr sz="1200" dirty="0"/>
              <a:t>CORE TECH STACK</a:t>
            </a:r>
          </a:p>
          <a:p>
            <a:pPr>
              <a:defRPr sz="800"/>
            </a:pPr>
            <a:r>
              <a:rPr lang="en-US" sz="1000" dirty="0"/>
              <a:t>• </a:t>
            </a:r>
            <a:r>
              <a:rPr lang="en-US" sz="1000" dirty="0" err="1"/>
              <a:t>LangGraph</a:t>
            </a:r>
            <a:r>
              <a:rPr lang="en-US" sz="1000" dirty="0"/>
              <a:t> → State-machine orchestration  • </a:t>
            </a:r>
            <a:r>
              <a:rPr lang="en-US" sz="1000" dirty="0" err="1"/>
              <a:t>LangChain</a:t>
            </a:r>
            <a:r>
              <a:rPr lang="en-US" sz="1000" dirty="0"/>
              <a:t> → Tool binding, LLM routing  • LLM → Reasoning, classification  • Vector DB </a:t>
            </a:r>
            <a:r>
              <a:rPr lang="en-US" sz="1000"/>
              <a:t>→ for </a:t>
            </a:r>
            <a:r>
              <a:rPr lang="en-US" sz="1000" dirty="0"/>
              <a:t>RAG  • Kafka → Event streaming, CDC  • PostgreSQL → Structured + time-series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63040"/>
            <a:ext cx="4206240" cy="2654573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</a:defRPr>
            </a:pPr>
            <a:r>
              <a:rPr sz="1200" dirty="0"/>
              <a:t>LANGGRAPH STATE MACHINE</a:t>
            </a:r>
          </a:p>
          <a:p>
            <a:pPr>
              <a:defRPr sz="700">
                <a:solidFill>
                  <a:srgbClr val="ABB2BF"/>
                </a:solidFill>
                <a:latin typeface="Courier New"/>
              </a:defRPr>
            </a:pPr>
            <a:r>
              <a:rPr sz="900" dirty="0"/>
              <a:t>from </a:t>
            </a:r>
            <a:r>
              <a:rPr sz="900" dirty="0" err="1"/>
              <a:t>langgraph.graph</a:t>
            </a:r>
            <a:r>
              <a:rPr sz="900" dirty="0"/>
              <a:t> import </a:t>
            </a:r>
            <a:r>
              <a:rPr sz="900" dirty="0" err="1"/>
              <a:t>StateGraph</a:t>
            </a:r>
            <a:br>
              <a:rPr sz="900" dirty="0"/>
            </a:br>
            <a:br>
              <a:rPr sz="900" dirty="0"/>
            </a:br>
            <a:r>
              <a:rPr sz="900" dirty="0"/>
              <a:t>class </a:t>
            </a:r>
            <a:r>
              <a:rPr sz="900" dirty="0" err="1"/>
              <a:t>AgentState</a:t>
            </a:r>
            <a:r>
              <a:rPr sz="900" dirty="0"/>
              <a:t>(</a:t>
            </a:r>
            <a:r>
              <a:rPr sz="900" dirty="0" err="1"/>
              <a:t>TypedDict</a:t>
            </a:r>
            <a:r>
              <a:rPr sz="900" dirty="0"/>
              <a:t>):</a:t>
            </a:r>
            <a:br>
              <a:rPr sz="900" dirty="0"/>
            </a:br>
            <a:r>
              <a:rPr sz="900" dirty="0"/>
              <a:t>    </a:t>
            </a:r>
            <a:r>
              <a:rPr sz="900" dirty="0" err="1"/>
              <a:t>risk_score</a:t>
            </a:r>
            <a:r>
              <a:rPr sz="900" dirty="0"/>
              <a:t>: int</a:t>
            </a:r>
            <a:br>
              <a:rPr sz="900" dirty="0"/>
            </a:br>
            <a:r>
              <a:rPr sz="900" dirty="0"/>
              <a:t>    </a:t>
            </a:r>
            <a:r>
              <a:rPr sz="900" dirty="0" err="1"/>
              <a:t>root_cause</a:t>
            </a:r>
            <a:r>
              <a:rPr sz="900" dirty="0"/>
              <a:t>: str</a:t>
            </a:r>
            <a:br>
              <a:rPr sz="900" dirty="0"/>
            </a:br>
            <a:r>
              <a:rPr sz="900" dirty="0"/>
              <a:t>    </a:t>
            </a:r>
            <a:r>
              <a:rPr sz="900" dirty="0" err="1"/>
              <a:t>week_bucket</a:t>
            </a:r>
            <a:r>
              <a:rPr sz="900" dirty="0"/>
              <a:t>: str</a:t>
            </a:r>
            <a:br>
              <a:rPr sz="900" dirty="0"/>
            </a:br>
            <a:br>
              <a:rPr sz="900" dirty="0"/>
            </a:br>
            <a:r>
              <a:rPr sz="900" dirty="0"/>
              <a:t>builder = </a:t>
            </a:r>
            <a:r>
              <a:rPr sz="900" dirty="0" err="1"/>
              <a:t>StateGraph</a:t>
            </a:r>
            <a:r>
              <a:rPr sz="900" dirty="0"/>
              <a:t>(</a:t>
            </a:r>
            <a:r>
              <a:rPr sz="900" dirty="0" err="1"/>
              <a:t>AgentState</a:t>
            </a:r>
            <a:r>
              <a:rPr sz="900" dirty="0"/>
              <a:t>)</a:t>
            </a:r>
            <a:br>
              <a:rPr sz="900" dirty="0"/>
            </a:br>
            <a:r>
              <a:rPr sz="900" dirty="0" err="1"/>
              <a:t>builder.add_node</a:t>
            </a:r>
            <a:r>
              <a:rPr sz="900" dirty="0"/>
              <a:t>("risk", </a:t>
            </a:r>
            <a:r>
              <a:rPr sz="900" dirty="0" err="1"/>
              <a:t>risk_agent</a:t>
            </a:r>
            <a:r>
              <a:rPr sz="900" dirty="0"/>
              <a:t>)</a:t>
            </a:r>
            <a:br>
              <a:rPr sz="900" dirty="0"/>
            </a:br>
            <a:r>
              <a:rPr sz="900" dirty="0" err="1"/>
              <a:t>builder.add_node</a:t>
            </a:r>
            <a:r>
              <a:rPr sz="900" dirty="0"/>
              <a:t>("classify", classifier)</a:t>
            </a:r>
            <a:br>
              <a:rPr sz="900" dirty="0"/>
            </a:br>
            <a:br>
              <a:rPr sz="900" dirty="0"/>
            </a:br>
            <a:r>
              <a:rPr sz="900" dirty="0" err="1"/>
              <a:t>builder.add_conditional_edges</a:t>
            </a:r>
            <a:r>
              <a:rPr sz="900" dirty="0"/>
              <a:t>(</a:t>
            </a:r>
            <a:br>
              <a:rPr sz="900" dirty="0"/>
            </a:br>
            <a:r>
              <a:rPr sz="900" dirty="0"/>
              <a:t>    "risk", </a:t>
            </a:r>
            <a:r>
              <a:rPr sz="900" dirty="0" err="1"/>
              <a:t>route_by_severity</a:t>
            </a:r>
            <a:r>
              <a:rPr sz="900" dirty="0"/>
              <a:t>,</a:t>
            </a:r>
            <a:br>
              <a:rPr sz="900" dirty="0"/>
            </a:br>
            <a:r>
              <a:rPr sz="900" dirty="0"/>
              <a:t>    {"low": END, "high": "classify"}</a:t>
            </a:r>
            <a:br>
              <a:rPr sz="900" dirty="0"/>
            </a:br>
            <a:r>
              <a:rPr sz="900" dirty="0"/>
              <a:t>)</a:t>
            </a:r>
            <a:br>
              <a:rPr sz="900" dirty="0"/>
            </a:br>
            <a:br>
              <a:rPr sz="900" dirty="0"/>
            </a:br>
            <a:r>
              <a:rPr sz="900" dirty="0"/>
              <a:t>app = </a:t>
            </a:r>
            <a:r>
              <a:rPr sz="900" dirty="0" err="1"/>
              <a:t>builder.compile</a:t>
            </a:r>
            <a:r>
              <a:rPr sz="900" dirty="0"/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463040"/>
            <a:ext cx="4206240" cy="1495281"/>
          </a:xfrm>
          <a:prstGeom prst="rect">
            <a:avLst/>
          </a:prstGeom>
          <a:noFill/>
          <a:ln w="25400">
            <a:solidFill>
              <a:srgbClr val="9C27B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9C27B0"/>
                </a:solidFill>
              </a:defRPr>
            </a:pPr>
            <a:r>
              <a:rPr sz="1200" dirty="0"/>
              <a:t>AGENT IMPLEMENTATION</a:t>
            </a:r>
          </a:p>
          <a:p>
            <a:pPr>
              <a:spcAft>
                <a:spcPts val="400"/>
              </a:spcAft>
              <a:defRPr sz="800"/>
            </a:pPr>
            <a:r>
              <a:rPr lang="en-US" sz="1000" dirty="0"/>
              <a:t>• Data Quality → </a:t>
            </a:r>
            <a:r>
              <a:rPr lang="en-US" sz="1000" dirty="0" err="1"/>
              <a:t>LangChain</a:t>
            </a:r>
            <a:r>
              <a:rPr lang="en-US" sz="1000" dirty="0"/>
              <a:t> </a:t>
            </a:r>
            <a:r>
              <a:rPr lang="en-US" sz="1000" dirty="0" err="1"/>
              <a:t>DataLoader</a:t>
            </a:r>
            <a:r>
              <a:rPr lang="en-US" sz="1000" dirty="0"/>
              <a:t> + Great Expectations</a:t>
            </a:r>
          </a:p>
          <a:p>
            <a:pPr>
              <a:spcAft>
                <a:spcPts val="400"/>
              </a:spcAft>
              <a:defRPr sz="800"/>
            </a:pPr>
            <a:r>
              <a:rPr lang="en-US" sz="1000" dirty="0"/>
              <a:t>• Risk Detection → Custom Python scoring (NOT LLM—latency)</a:t>
            </a:r>
          </a:p>
          <a:p>
            <a:pPr>
              <a:spcAft>
                <a:spcPts val="400"/>
              </a:spcAft>
              <a:defRPr sz="800"/>
            </a:pPr>
            <a:r>
              <a:rPr lang="en-US" sz="1000" dirty="0"/>
              <a:t>• Cause Classifier → </a:t>
            </a:r>
            <a:r>
              <a:rPr lang="en-US" sz="1000" dirty="0" err="1"/>
              <a:t>LLMChain</a:t>
            </a:r>
            <a:r>
              <a:rPr lang="en-US" sz="1000" dirty="0"/>
              <a:t> + </a:t>
            </a:r>
            <a:r>
              <a:rPr lang="en-US" sz="1000" dirty="0" err="1"/>
              <a:t>Pydantic</a:t>
            </a:r>
            <a:r>
              <a:rPr lang="en-US" sz="1000" dirty="0"/>
              <a:t> | RAG: top-5 incidents</a:t>
            </a:r>
          </a:p>
          <a:p>
            <a:pPr>
              <a:spcAft>
                <a:spcPts val="400"/>
              </a:spcAft>
              <a:defRPr sz="800"/>
            </a:pPr>
            <a:r>
              <a:rPr lang="en-US" sz="1000" dirty="0"/>
              <a:t>• Follow-Up → </a:t>
            </a:r>
            <a:r>
              <a:rPr lang="en-US" sz="1000" dirty="0" err="1"/>
              <a:t>ReAct</a:t>
            </a:r>
            <a:r>
              <a:rPr lang="en-US" sz="1000" dirty="0"/>
              <a:t> Agent | Tools: Slack, email, CMMS</a:t>
            </a:r>
          </a:p>
          <a:p>
            <a:pPr>
              <a:spcAft>
                <a:spcPts val="400"/>
              </a:spcAft>
              <a:defRPr sz="800"/>
            </a:pPr>
            <a:r>
              <a:rPr lang="en-US" sz="1000" dirty="0"/>
              <a:t>• Trade-Off → OR-Tools / </a:t>
            </a:r>
            <a:r>
              <a:rPr lang="en-US" sz="1000" dirty="0" err="1"/>
              <a:t>PuLP</a:t>
            </a:r>
            <a:r>
              <a:rPr lang="en-US" sz="1000" dirty="0"/>
              <a:t> | What-if capacity reallocation</a:t>
            </a:r>
          </a:p>
          <a:p>
            <a:pPr>
              <a:spcAft>
                <a:spcPts val="400"/>
              </a:spcAft>
              <a:defRPr sz="800"/>
            </a:pPr>
            <a:r>
              <a:rPr lang="en-US" sz="1000" dirty="0"/>
              <a:t>• Action &amp; Audit → </a:t>
            </a:r>
            <a:r>
              <a:rPr lang="en-US" sz="1000" dirty="0" err="1"/>
              <a:t>ToolExecutor</a:t>
            </a:r>
            <a:r>
              <a:rPr lang="en-US" sz="1000" dirty="0"/>
              <a:t> | Hash-chained audit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238709"/>
            <a:ext cx="8595360" cy="1561966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</a:defRPr>
            </a:pPr>
            <a:r>
              <a:rPr sz="1200" dirty="0"/>
              <a:t>PYDANTIC MODELS (STRUCTURED OUTPUT)</a:t>
            </a:r>
          </a:p>
          <a:p>
            <a:pPr>
              <a:defRPr sz="800">
                <a:solidFill>
                  <a:srgbClr val="ABB2BF"/>
                </a:solidFill>
                <a:latin typeface="Courier New"/>
              </a:defRPr>
            </a:pPr>
            <a:r>
              <a:rPr sz="900" dirty="0"/>
              <a:t>class </a:t>
            </a:r>
            <a:r>
              <a:rPr sz="900" dirty="0" err="1"/>
              <a:t>RiskAssessment</a:t>
            </a:r>
            <a:r>
              <a:rPr sz="900" dirty="0"/>
              <a:t>(</a:t>
            </a:r>
            <a:r>
              <a:rPr sz="900" dirty="0" err="1"/>
              <a:t>BaseModel</a:t>
            </a:r>
            <a:r>
              <a:rPr sz="900" dirty="0"/>
              <a:t>):</a:t>
            </a:r>
            <a:br>
              <a:rPr sz="900" dirty="0"/>
            </a:br>
            <a:r>
              <a:rPr sz="900" dirty="0"/>
              <a:t>    </a:t>
            </a:r>
            <a:r>
              <a:rPr sz="900" dirty="0" err="1"/>
              <a:t>risk_score</a:t>
            </a:r>
            <a:r>
              <a:rPr sz="900" dirty="0"/>
              <a:t>: int = Field(</a:t>
            </a:r>
            <a:r>
              <a:rPr sz="900" dirty="0" err="1"/>
              <a:t>ge</a:t>
            </a:r>
            <a:r>
              <a:rPr sz="900" dirty="0"/>
              <a:t>=0, le=100)</a:t>
            </a:r>
            <a:br>
              <a:rPr sz="900" dirty="0"/>
            </a:br>
            <a:r>
              <a:rPr sz="900" dirty="0"/>
              <a:t>    </a:t>
            </a:r>
            <a:r>
              <a:rPr sz="900" dirty="0" err="1"/>
              <a:t>week_bucket</a:t>
            </a:r>
            <a:r>
              <a:rPr sz="900" dirty="0"/>
              <a:t>: Literal["W1", "W2", "W3", "W4"]</a:t>
            </a:r>
            <a:br>
              <a:rPr sz="900" dirty="0"/>
            </a:br>
            <a:r>
              <a:rPr sz="900" dirty="0"/>
              <a:t>    citations: List[str]</a:t>
            </a:r>
            <a:br>
              <a:rPr sz="900" dirty="0"/>
            </a:br>
            <a:br>
              <a:rPr sz="900" dirty="0"/>
            </a:br>
            <a:r>
              <a:rPr sz="900" dirty="0"/>
              <a:t>class </a:t>
            </a:r>
            <a:r>
              <a:rPr sz="900" dirty="0" err="1"/>
              <a:t>RootCause</a:t>
            </a:r>
            <a:r>
              <a:rPr sz="900" dirty="0"/>
              <a:t>(</a:t>
            </a:r>
            <a:r>
              <a:rPr sz="900" dirty="0" err="1"/>
              <a:t>BaseModel</a:t>
            </a:r>
            <a:r>
              <a:rPr sz="900" dirty="0"/>
              <a:t>):</a:t>
            </a:r>
            <a:br>
              <a:rPr sz="900" dirty="0"/>
            </a:br>
            <a:r>
              <a:rPr sz="900" dirty="0"/>
              <a:t>    cause: Literal["DOWNTIME", "UPH_DEGRADATION", "WIP_QUEUE", "MATERIAL"]</a:t>
            </a:r>
            <a:br>
              <a:rPr sz="900" dirty="0"/>
            </a:br>
            <a:r>
              <a:rPr sz="900" dirty="0"/>
              <a:t>    confidence: float = Field(</a:t>
            </a:r>
            <a:r>
              <a:rPr sz="900" dirty="0" err="1"/>
              <a:t>ge</a:t>
            </a:r>
            <a:r>
              <a:rPr sz="900" dirty="0"/>
              <a:t>=0.0, le=1.0)</a:t>
            </a:r>
            <a:br>
              <a:rPr sz="900" dirty="0"/>
            </a:br>
            <a:r>
              <a:rPr sz="900" dirty="0"/>
              <a:t>    recommendation: Literal["AUTO", "APPROVAL", "BLOCKED"]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8351" y="6583680"/>
            <a:ext cx="158729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rPr dirty="0"/>
              <a:t>Agentic AI for Delivery Assurance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33A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4: Trade-Off Engine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457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OR-Tools |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19" y="731519"/>
            <a:ext cx="4344063" cy="2639184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</a:defRPr>
            </a:pPr>
            <a:r>
              <a:rPr sz="1200" dirty="0"/>
              <a:t>TRADE-OFF ENGINE (OR-TOOLS)</a:t>
            </a:r>
          </a:p>
          <a:p>
            <a:pPr>
              <a:defRPr sz="700">
                <a:solidFill>
                  <a:srgbClr val="ABB2BF"/>
                </a:solidFill>
                <a:latin typeface="Courier New"/>
              </a:defRPr>
            </a:pPr>
            <a:r>
              <a:rPr sz="800" dirty="0"/>
              <a:t>from </a:t>
            </a:r>
            <a:r>
              <a:rPr sz="800" dirty="0" err="1"/>
              <a:t>ortools.linear_solver</a:t>
            </a:r>
            <a:r>
              <a:rPr sz="800" dirty="0"/>
              <a:t> import </a:t>
            </a:r>
            <a:r>
              <a:rPr sz="800" dirty="0" err="1"/>
              <a:t>pywraplp</a:t>
            </a:r>
            <a:br>
              <a:rPr sz="800" dirty="0"/>
            </a:br>
            <a:br>
              <a:rPr sz="800" dirty="0"/>
            </a:br>
            <a:r>
              <a:rPr sz="800" dirty="0"/>
              <a:t>solver = </a:t>
            </a:r>
            <a:r>
              <a:rPr sz="800" dirty="0" err="1"/>
              <a:t>pywraplp.Solver.CreateSolver</a:t>
            </a:r>
            <a:r>
              <a:rPr sz="800" dirty="0"/>
              <a:t>('SCIP')</a:t>
            </a:r>
            <a:br>
              <a:rPr sz="800" dirty="0"/>
            </a:br>
            <a:br>
              <a:rPr sz="800" dirty="0"/>
            </a:br>
            <a:r>
              <a:rPr sz="800" dirty="0" err="1"/>
              <a:t>alloc</a:t>
            </a:r>
            <a:r>
              <a:rPr sz="800" dirty="0"/>
              <a:t> = {}</a:t>
            </a:r>
            <a:br>
              <a:rPr sz="800" dirty="0"/>
            </a:br>
            <a:r>
              <a:rPr sz="800" dirty="0"/>
              <a:t>for week in weeks:</a:t>
            </a:r>
            <a:br>
              <a:rPr sz="800" dirty="0"/>
            </a:br>
            <a:r>
              <a:rPr sz="800" dirty="0"/>
              <a:t>    for fam in products:</a:t>
            </a:r>
            <a:br>
              <a:rPr sz="800" dirty="0"/>
            </a:br>
            <a:r>
              <a:rPr sz="800" dirty="0"/>
              <a:t>        </a:t>
            </a:r>
            <a:r>
              <a:rPr sz="800" dirty="0" err="1"/>
              <a:t>alloc</a:t>
            </a:r>
            <a:r>
              <a:rPr sz="800" dirty="0"/>
              <a:t>[</a:t>
            </a:r>
            <a:r>
              <a:rPr sz="800" dirty="0" err="1"/>
              <a:t>week,fam</a:t>
            </a:r>
            <a:r>
              <a:rPr sz="800" dirty="0"/>
              <a:t>] = </a:t>
            </a:r>
            <a:r>
              <a:rPr sz="800" dirty="0" err="1"/>
              <a:t>solver.NumVar</a:t>
            </a:r>
            <a:r>
              <a:rPr sz="800" dirty="0"/>
              <a:t>(</a:t>
            </a:r>
            <a:br>
              <a:rPr sz="800" dirty="0"/>
            </a:br>
            <a:r>
              <a:rPr sz="800" dirty="0"/>
              <a:t>            0, capacity(week), </a:t>
            </a:r>
            <a:r>
              <a:rPr sz="800" dirty="0" err="1"/>
              <a:t>f"alloc</a:t>
            </a:r>
            <a:r>
              <a:rPr sz="800" dirty="0"/>
              <a:t>_{week}_{fam}"</a:t>
            </a:r>
            <a:br>
              <a:rPr sz="800" dirty="0"/>
            </a:br>
            <a:r>
              <a:rPr sz="800" dirty="0"/>
              <a:t>        )</a:t>
            </a:r>
            <a:br>
              <a:rPr sz="800" dirty="0"/>
            </a:br>
            <a:br>
              <a:rPr sz="800" dirty="0"/>
            </a:br>
            <a:r>
              <a:rPr sz="800" dirty="0" err="1"/>
              <a:t>solver.Add</a:t>
            </a:r>
            <a:r>
              <a:rPr sz="800" dirty="0"/>
              <a:t>(</a:t>
            </a:r>
            <a:r>
              <a:rPr sz="800" dirty="0" err="1"/>
              <a:t>alloc</a:t>
            </a:r>
            <a:r>
              <a:rPr sz="800" dirty="0"/>
              <a:t> &gt;= </a:t>
            </a:r>
            <a:r>
              <a:rPr sz="800" dirty="0" err="1"/>
              <a:t>min_load</a:t>
            </a:r>
            <a:r>
              <a:rPr sz="800" dirty="0"/>
              <a:t>)</a:t>
            </a:r>
            <a:br>
              <a:rPr sz="800" dirty="0"/>
            </a:br>
            <a:r>
              <a:rPr sz="800" dirty="0"/>
              <a:t>buffer = capacity(week) * 0.12</a:t>
            </a:r>
            <a:br>
              <a:rPr sz="800" dirty="0"/>
            </a:br>
            <a:r>
              <a:rPr sz="800" dirty="0" err="1"/>
              <a:t>solver.Add</a:t>
            </a:r>
            <a:r>
              <a:rPr sz="800" dirty="0"/>
              <a:t>(sum(</a:t>
            </a:r>
            <a:r>
              <a:rPr sz="800" dirty="0" err="1"/>
              <a:t>alloc</a:t>
            </a:r>
            <a:r>
              <a:rPr sz="800" dirty="0"/>
              <a:t>) &lt;= capacity - buffer)</a:t>
            </a:r>
            <a:br>
              <a:rPr sz="800" dirty="0"/>
            </a:br>
            <a:br>
              <a:rPr sz="800" dirty="0"/>
            </a:br>
            <a:r>
              <a:rPr sz="800" dirty="0" err="1"/>
              <a:t>solver.Maximize</a:t>
            </a:r>
            <a:r>
              <a:rPr sz="800" dirty="0"/>
              <a:t>(sum(</a:t>
            </a:r>
            <a:br>
              <a:rPr sz="800" dirty="0"/>
            </a:br>
            <a:r>
              <a:rPr sz="800" dirty="0"/>
              <a:t>    </a:t>
            </a:r>
            <a:r>
              <a:rPr sz="800" dirty="0" err="1"/>
              <a:t>otif_weight</a:t>
            </a:r>
            <a:r>
              <a:rPr sz="800" dirty="0"/>
              <a:t>(</a:t>
            </a:r>
            <a:r>
              <a:rPr sz="800" dirty="0" err="1"/>
              <a:t>w,f</a:t>
            </a:r>
            <a:r>
              <a:rPr sz="800" dirty="0"/>
              <a:t>) * </a:t>
            </a:r>
            <a:r>
              <a:rPr sz="800" dirty="0" err="1"/>
              <a:t>alloc</a:t>
            </a:r>
            <a:r>
              <a:rPr sz="800" dirty="0"/>
              <a:t>[</a:t>
            </a:r>
            <a:r>
              <a:rPr sz="800" dirty="0" err="1"/>
              <a:t>w,f</a:t>
            </a:r>
            <a:r>
              <a:rPr sz="800" dirty="0"/>
              <a:t>]</a:t>
            </a:r>
            <a:br>
              <a:rPr sz="800" dirty="0"/>
            </a:br>
            <a:r>
              <a:rPr sz="800" dirty="0"/>
              <a:t>    for w in weeks for f in products</a:t>
            </a:r>
            <a:br>
              <a:rPr sz="800" dirty="0"/>
            </a:br>
            <a:r>
              <a:rPr sz="800" dirty="0"/>
              <a:t>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731519"/>
            <a:ext cx="4203590" cy="1097736"/>
          </a:xfrm>
          <a:prstGeom prst="rect">
            <a:avLst/>
          </a:prstGeom>
          <a:noFill/>
          <a:ln w="25400">
            <a:solidFill>
              <a:srgbClr val="DC3545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C3545"/>
                </a:solidFill>
              </a:defRPr>
            </a:pPr>
            <a:r>
              <a:rPr dirty="0"/>
              <a:t>GUARDRAILS</a:t>
            </a:r>
          </a:p>
          <a:p>
            <a:pPr>
              <a:spcAft>
                <a:spcPts val="400"/>
              </a:spcAft>
              <a:defRPr sz="900"/>
            </a:pPr>
            <a:r>
              <a:rPr sz="1000" dirty="0"/>
              <a:t>• Bottleneck Protection: W1 expedite beyond threshold → BLOCKED</a:t>
            </a:r>
          </a:p>
          <a:p>
            <a:pPr>
              <a:spcAft>
                <a:spcPts val="400"/>
              </a:spcAft>
              <a:defRPr sz="900"/>
            </a:pPr>
            <a:r>
              <a:rPr sz="1000" dirty="0"/>
              <a:t>• Mix Balance: balanced % per product</a:t>
            </a:r>
          </a:p>
          <a:p>
            <a:pPr>
              <a:spcAft>
                <a:spcPts val="400"/>
              </a:spcAft>
              <a:defRPr sz="900"/>
            </a:pPr>
            <a:r>
              <a:rPr sz="1000" dirty="0"/>
              <a:t>• Capacity Reservation: W2-W4 keep capacity buffer</a:t>
            </a:r>
          </a:p>
          <a:p>
            <a:pPr>
              <a:spcAft>
                <a:spcPts val="400"/>
              </a:spcAft>
              <a:defRPr sz="900"/>
            </a:pPr>
            <a:r>
              <a:rPr sz="1000" dirty="0"/>
              <a:t>• Cross-Week Impact: W1 can't reduce W2 &gt;10%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3670" y="2169681"/>
            <a:ext cx="4114800" cy="1274708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</a:defRPr>
            </a:pPr>
            <a:r>
              <a:rPr sz="1200" dirty="0"/>
              <a:t>IMMUTABLE AUDIT LOG</a:t>
            </a:r>
          </a:p>
          <a:p>
            <a:pPr>
              <a:spcAft>
                <a:spcPts val="200"/>
              </a:spcAft>
              <a:defRPr sz="800">
                <a:solidFill>
                  <a:srgbClr val="C8C8C8"/>
                </a:solidFill>
              </a:defRPr>
            </a:pPr>
            <a:r>
              <a:rPr sz="900" dirty="0"/>
              <a:t>• PostgreSQL JSONB + SHA-256 chain</a:t>
            </a:r>
          </a:p>
          <a:p>
            <a:pPr>
              <a:spcAft>
                <a:spcPts val="200"/>
              </a:spcAft>
              <a:defRPr sz="800">
                <a:solidFill>
                  <a:srgbClr val="C8C8C8"/>
                </a:solidFill>
              </a:defRPr>
            </a:pPr>
            <a:r>
              <a:rPr sz="900" dirty="0"/>
              <a:t>• Each entry: action, rationale, citations, impact forecast vs actual</a:t>
            </a:r>
          </a:p>
          <a:p>
            <a:pPr>
              <a:spcAft>
                <a:spcPts val="200"/>
              </a:spcAft>
              <a:defRPr sz="800">
                <a:solidFill>
                  <a:srgbClr val="C8C8C8"/>
                </a:solidFill>
              </a:defRPr>
            </a:pPr>
            <a:r>
              <a:rPr sz="900" dirty="0"/>
              <a:t>• </a:t>
            </a:r>
            <a:r>
              <a:rPr sz="900" dirty="0" err="1"/>
              <a:t>LangSmith</a:t>
            </a:r>
            <a:r>
              <a:rPr sz="900" dirty="0"/>
              <a:t> trace ID for observability</a:t>
            </a:r>
          </a:p>
          <a:p>
            <a:pPr>
              <a:spcAft>
                <a:spcPts val="200"/>
              </a:spcAft>
              <a:defRPr sz="800">
                <a:solidFill>
                  <a:srgbClr val="C8C8C8"/>
                </a:solidFill>
              </a:defRPr>
            </a:pPr>
            <a:r>
              <a:rPr sz="900" dirty="0"/>
              <a:t>• 7-year retention (compliance)</a:t>
            </a:r>
          </a:p>
          <a:p>
            <a:pPr>
              <a:spcAft>
                <a:spcPts val="200"/>
              </a:spcAft>
              <a:defRPr sz="800">
                <a:solidFill>
                  <a:srgbClr val="C8C8C8"/>
                </a:solidFill>
              </a:defRPr>
            </a:pPr>
            <a:endParaRPr sz="900" dirty="0"/>
          </a:p>
          <a:p>
            <a:pPr>
              <a:spcAft>
                <a:spcPts val="200"/>
              </a:spcAft>
              <a:defRPr sz="800">
                <a:solidFill>
                  <a:srgbClr val="C8C8C8"/>
                </a:solidFill>
              </a:defRPr>
            </a:pPr>
            <a:r>
              <a:rPr sz="900" dirty="0"/>
              <a:t>Why? Manufacturing quality audits require tamper-evident trails.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8351" y="6583680"/>
            <a:ext cx="158729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rPr dirty="0"/>
              <a:t>Agentic AI for Delivery Assurance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318550"/>
              </p:ext>
            </p:extLst>
          </p:nvPr>
        </p:nvGraphicFramePr>
        <p:xfrm>
          <a:off x="272992" y="3831859"/>
          <a:ext cx="8598012" cy="2201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46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43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Action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W1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W2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W3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W4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Reasoning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43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1000" dirty="0"/>
                        <a:t>Flag lot 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AUTO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AUTO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000"/>
                        <a:t>Tactical vs strategic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895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1000" dirty="0"/>
                        <a:t>Create ticket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 dirty="0"/>
                        <a:t>AUTO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 dirty="0"/>
                        <a:t>AUTO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AUTO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AUTO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000" dirty="0"/>
                        <a:t>Read-only, reversible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43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1000" dirty="0"/>
                        <a:t>Re-sequence lots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 dirty="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 dirty="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000"/>
                        <a:t>Affects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895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1000"/>
                        <a:t>Expedite / break FIFO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 dirty="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Block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 dirty="0"/>
                        <a:t>Block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000"/>
                        <a:t>W3-W4 = panic mode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895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1000" dirty="0"/>
                        <a:t>Release </a:t>
                      </a:r>
                      <a:r>
                        <a:rPr sz="1000" dirty="0" err="1"/>
                        <a:t>eng</a:t>
                      </a:r>
                      <a:r>
                        <a:rPr sz="1000" dirty="0"/>
                        <a:t> 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000" dirty="0"/>
                        <a:t>Domain expert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545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1000"/>
                        <a:t>Reallocate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Block</a:t>
                      </a:r>
                    </a:p>
                  </a:txBody>
                  <a:tcPr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000"/>
                        <a:t>Appr</a:t>
                      </a:r>
                    </a:p>
                  </a:txBody>
                  <a:tcPr anchor="ctr">
                    <a:solidFill>
                      <a:srgbClr val="FFF17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1000" dirty="0"/>
                        <a:t>W1 too late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3961" y="3495572"/>
            <a:ext cx="25838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800"/>
                </a:solidFill>
              </a:defRPr>
            </a:pPr>
            <a:r>
              <a:rPr sz="1200" dirty="0"/>
              <a:t>HUMAN-IN-THE-LOOP &amp;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33A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5: KPIs &amp; 4-Week MVP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Evaluation Metrics | Shadow Mode →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233A"/>
                </a:solidFill>
              </a:defRPr>
            </a:pPr>
            <a:r>
              <a:rPr dirty="0"/>
              <a:t>EVALUATION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715534" cy="7745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C3545"/>
                </a:solidFill>
              </a:defRPr>
            </a:pPr>
            <a:r>
              <a:rPr sz="1100" dirty="0"/>
              <a:t>Delivery</a:t>
            </a:r>
          </a:p>
          <a:p>
            <a:pPr>
              <a:spcAft>
                <a:spcPts val="100"/>
              </a:spcAft>
              <a:defRPr sz="800"/>
            </a:pPr>
            <a:r>
              <a:rPr sz="1000" dirty="0"/>
              <a:t>• OTIF improvement by week</a:t>
            </a:r>
          </a:p>
          <a:p>
            <a:pPr>
              <a:spcAft>
                <a:spcPts val="100"/>
              </a:spcAft>
              <a:defRPr sz="800"/>
            </a:pPr>
            <a:r>
              <a:rPr sz="1000" dirty="0"/>
              <a:t>• Commit accuracy</a:t>
            </a:r>
          </a:p>
          <a:p>
            <a:pPr>
              <a:spcAft>
                <a:spcPts val="100"/>
              </a:spcAft>
              <a:defRPr sz="800"/>
            </a:pPr>
            <a:r>
              <a:rPr sz="1000" dirty="0"/>
              <a:t>• False positive kept 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05840"/>
            <a:ext cx="1681871" cy="941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9688"/>
                </a:solidFill>
              </a:defRPr>
            </a:pPr>
            <a:r>
              <a:rPr sz="1100" dirty="0"/>
              <a:t>Operational</a:t>
            </a:r>
          </a:p>
          <a:p>
            <a:pPr>
              <a:spcAft>
                <a:spcPts val="100"/>
              </a:spcAft>
              <a:defRPr sz="800"/>
            </a:pPr>
            <a:r>
              <a:rPr sz="1000" dirty="0"/>
              <a:t>• Detection lead &gt;48 </a:t>
            </a:r>
            <a:r>
              <a:rPr sz="1000" dirty="0" err="1"/>
              <a:t>hrs</a:t>
            </a:r>
            <a:endParaRPr sz="1000" dirty="0"/>
          </a:p>
          <a:p>
            <a:pPr>
              <a:spcAft>
                <a:spcPts val="100"/>
              </a:spcAft>
              <a:defRPr sz="800"/>
            </a:pPr>
            <a:r>
              <a:rPr sz="1000" dirty="0"/>
              <a:t>• Expedite volume reduction</a:t>
            </a:r>
          </a:p>
          <a:p>
            <a:pPr>
              <a:spcAft>
                <a:spcPts val="100"/>
              </a:spcAft>
              <a:defRPr sz="800"/>
            </a:pPr>
            <a:r>
              <a:rPr sz="1000" dirty="0"/>
              <a:t>• WIP queue time</a:t>
            </a:r>
          </a:p>
          <a:p>
            <a:pPr>
              <a:spcAft>
                <a:spcPts val="100"/>
              </a:spcAft>
              <a:defRPr sz="800"/>
            </a:pPr>
            <a:r>
              <a:rPr sz="1000" dirty="0"/>
              <a:t>• OEE 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1571264" cy="7745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9800"/>
                </a:solidFill>
              </a:defRPr>
            </a:pPr>
            <a:r>
              <a:rPr sz="1100" dirty="0"/>
              <a:t>Agent Perf</a:t>
            </a:r>
          </a:p>
          <a:p>
            <a:pPr>
              <a:spcAft>
                <a:spcPts val="100"/>
              </a:spcAft>
              <a:defRPr sz="800"/>
            </a:pPr>
            <a:r>
              <a:rPr sz="1000" dirty="0"/>
              <a:t>• Closure time &lt;4 </a:t>
            </a:r>
            <a:r>
              <a:rPr sz="1000" dirty="0" err="1"/>
              <a:t>hrs</a:t>
            </a:r>
            <a:r>
              <a:rPr sz="1000" dirty="0"/>
              <a:t> (W1)</a:t>
            </a:r>
          </a:p>
          <a:p>
            <a:pPr>
              <a:spcAft>
                <a:spcPts val="100"/>
              </a:spcAft>
              <a:defRPr sz="800"/>
            </a:pPr>
            <a:r>
              <a:rPr sz="1000" dirty="0"/>
              <a:t>• Acceptance high</a:t>
            </a:r>
          </a:p>
          <a:p>
            <a:pPr>
              <a:spcAft>
                <a:spcPts val="100"/>
              </a:spcAft>
              <a:defRPr sz="800"/>
            </a:pPr>
            <a:r>
              <a:rPr sz="1000" dirty="0"/>
              <a:t>• Effort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233A"/>
                </a:solidFill>
              </a:defRPr>
            </a:pPr>
            <a:r>
              <a:rPr dirty="0"/>
              <a:t>MVP ROADMAP (4 WEEKS)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57400"/>
            <a:ext cx="2011680" cy="954107"/>
          </a:xfrm>
          <a:prstGeom prst="rect">
            <a:avLst/>
          </a:prstGeom>
          <a:solidFill>
            <a:srgbClr val="9C27B0"/>
          </a:solidFill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</a:defRPr>
            </a:pPr>
            <a:r>
              <a:rPr sz="1100" dirty="0"/>
              <a:t>WEEK 1: SHADOW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Kafka CDC + PostgreSQL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Risk Detection read-only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 err="1"/>
              <a:t>Internal monitoring</a:t>
            </a:r>
            <a:r>
              <a:rPr sz="1000" dirty="0"/>
              <a:t> dashboard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GATE: Precision high enough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57400"/>
            <a:ext cx="2011680" cy="954107"/>
          </a:xfrm>
          <a:prstGeom prst="rect">
            <a:avLst/>
          </a:prstGeom>
          <a:solidFill>
            <a:srgbClr val="0066CC"/>
          </a:solidFill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</a:defRPr>
            </a:pPr>
            <a:r>
              <a:rPr sz="1100" dirty="0"/>
              <a:t>WEEK 2: FOLLOW-UP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Follow-Up Agent (W1)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Slack/Teams + owner mapping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SLA tracking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GATE: Response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011680" cy="954107"/>
          </a:xfrm>
          <a:prstGeom prst="rect">
            <a:avLst/>
          </a:prstGeom>
          <a:solidFill>
            <a:srgbClr val="009688"/>
          </a:solidFill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</a:defRPr>
            </a:pPr>
            <a:r>
              <a:rPr sz="1100" dirty="0"/>
              <a:t>WEEK 3: PILOT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CMMS ticketing + MES flags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Trade-Off Engine advisory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Expand to W2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GATE: Approval acceptable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57400"/>
            <a:ext cx="2011680" cy="954107"/>
          </a:xfrm>
          <a:prstGeom prst="rect">
            <a:avLst/>
          </a:prstGeom>
          <a:solidFill>
            <a:srgbClr val="FF9800"/>
          </a:solidFill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</a:defRPr>
            </a:pPr>
            <a:r>
              <a:rPr sz="1100" dirty="0"/>
              <a:t>WEEK 4: AUTO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Auto-execute W1 low-risk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W2 hard approval gate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Full audit + KPI dashboard</a:t>
            </a:r>
          </a:p>
          <a:p>
            <a:pPr algn="ctr">
              <a:spcAft>
                <a:spcPts val="100"/>
              </a:spcAft>
              <a:defRPr sz="700">
                <a:solidFill>
                  <a:srgbClr val="FFFFFF"/>
                </a:solidFill>
              </a:defRPr>
            </a:pPr>
            <a:r>
              <a:rPr sz="1000" dirty="0"/>
              <a:t>GATE: OTIF improve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182000"/>
            <a:ext cx="4114800" cy="1354217"/>
          </a:xfrm>
          <a:prstGeom prst="rect">
            <a:avLst/>
          </a:prstGeom>
          <a:solidFill>
            <a:srgbClr val="F5F5F5"/>
          </a:solidFill>
          <a:ln w="25400">
            <a:solidFill>
              <a:srgbClr val="2196F3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196F3"/>
                </a:solidFill>
              </a:defRPr>
            </a:pPr>
            <a:r>
              <a:rPr sz="1200" dirty="0"/>
              <a:t>INFRASTRUCTURE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• Docker + K8s: Agent containers, </a:t>
            </a:r>
            <a:r>
              <a:rPr sz="1000" dirty="0" err="1"/>
              <a:t>API</a:t>
            </a:r>
            <a:r>
              <a:rPr sz="1000" dirty="0"/>
              <a:t>, Celery workers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• Kafka: 3 brokers, 2 replicas, Schema Registry, Connect CDC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• Vector DB: Vector DB/</a:t>
            </a:r>
            <a:r>
              <a:rPr sz="1000" dirty="0" err="1"/>
              <a:t>Weaviate</a:t>
            </a:r>
            <a:r>
              <a:rPr sz="1000" dirty="0"/>
              <a:t> | LLM provider embeddings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• PostgreSQL: </a:t>
            </a:r>
            <a:r>
              <a:rPr sz="1000" dirty="0" err="1"/>
              <a:t>TimescaleDB</a:t>
            </a:r>
            <a:r>
              <a:rPr sz="1000" dirty="0"/>
              <a:t>, Primary + 2 replicas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• Observability: </a:t>
            </a:r>
            <a:r>
              <a:rPr sz="1000" dirty="0" err="1"/>
              <a:t>LangSmith</a:t>
            </a:r>
            <a:r>
              <a:rPr sz="1000" dirty="0"/>
              <a:t>, Prometheus, Grafana, ELK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• CI/CD: GitHub Actions → </a:t>
            </a:r>
            <a:r>
              <a:rPr sz="1000" dirty="0" err="1"/>
              <a:t>ArgoCD</a:t>
            </a:r>
            <a:r>
              <a:rPr sz="1000" dirty="0"/>
              <a:t> → 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80687"/>
            <a:ext cx="4297680" cy="1290097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4CAF50"/>
                </a:solidFill>
              </a:defRPr>
            </a:pPr>
            <a:r>
              <a:rPr sz="1200" dirty="0"/>
              <a:t>TESTING PYRAMID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• Unit Tests (Majority):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  </a:t>
            </a:r>
            <a:r>
              <a:rPr sz="1000" dirty="0" err="1"/>
              <a:t>pytest</a:t>
            </a:r>
            <a:r>
              <a:rPr sz="1000" dirty="0"/>
              <a:t> + mock | hypothesis | </a:t>
            </a:r>
            <a:r>
              <a:rPr sz="1000" dirty="0" err="1"/>
              <a:t>Pydantic</a:t>
            </a:r>
            <a:r>
              <a:rPr sz="1000" dirty="0"/>
              <a:t> | Not isolation | Coverage high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• Integration (Some):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  </a:t>
            </a:r>
            <a:r>
              <a:rPr sz="1000" dirty="0" err="1"/>
              <a:t>TestContainers</a:t>
            </a:r>
            <a:r>
              <a:rPr sz="1000" dirty="0"/>
              <a:t>: Kafka + PostgreSQL | </a:t>
            </a:r>
            <a:r>
              <a:rPr sz="1000" dirty="0" err="1"/>
              <a:t>LangGraph</a:t>
            </a:r>
            <a:r>
              <a:rPr sz="1000" dirty="0"/>
              <a:t> transitions | API contracts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• Evaluation (10%):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  </a:t>
            </a:r>
            <a:r>
              <a:rPr sz="1000" dirty="0" err="1"/>
              <a:t>LangSmith</a:t>
            </a:r>
            <a:r>
              <a:rPr sz="1000" dirty="0"/>
              <a:t>: 500 incidents | LLM-as-judge | Known-good trade-offs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20769"/>
            <a:ext cx="4114800" cy="1808187"/>
          </a:xfrm>
          <a:prstGeom prst="rect">
            <a:avLst/>
          </a:prstGeom>
          <a:solidFill>
            <a:srgbClr val="FFFAF0"/>
          </a:solidFill>
          <a:ln w="25400">
            <a:solidFill>
              <a:srgbClr val="FF98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9800"/>
                </a:solidFill>
              </a:defRPr>
            </a:pPr>
            <a:r>
              <a:rPr sz="1200" dirty="0"/>
              <a:t>ROI &amp; VALUE</a:t>
            </a:r>
          </a:p>
          <a:p>
            <a:pPr>
              <a:spcAft>
                <a:spcPts val="100"/>
              </a:spcAft>
              <a:defRPr sz="700"/>
            </a:pPr>
            <a:endParaRPr sz="1200" dirty="0"/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Kafka (Managed Kafka) infrastructure cost | Planner time: time saved per planner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System pays for itself in one quarter | LLM API variable cost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Vector DB storage cost | 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Observability (</a:t>
            </a:r>
            <a:r>
              <a:rPr sz="1000" dirty="0" err="1"/>
              <a:t>LangSmith</a:t>
            </a:r>
            <a:r>
              <a:rPr sz="1000" dirty="0"/>
              <a:t>, ELK) monitoring cost</a:t>
            </a:r>
          </a:p>
          <a:p>
            <a:pPr>
              <a:spcAft>
                <a:spcPts val="100"/>
              </a:spcAft>
              <a:defRPr sz="700"/>
            </a:pPr>
            <a:endParaRPr sz="1000" dirty="0"/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ROI: Reduced expedites, improved OTIF, planner time saved</a:t>
            </a:r>
          </a:p>
          <a:p>
            <a:pPr>
              <a:spcAft>
                <a:spcPts val="100"/>
              </a:spcAft>
              <a:defRPr sz="700"/>
            </a:pPr>
            <a:r>
              <a:rPr sz="1000" dirty="0"/>
              <a:t>(Avoid one W1 shortage → significant value)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620769"/>
            <a:ext cx="4297680" cy="1354217"/>
          </a:xfrm>
          <a:prstGeom prst="rect">
            <a:avLst/>
          </a:prstGeom>
          <a:noFill/>
          <a:ln w="38100">
            <a:solidFill>
              <a:srgbClr val="DC3545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C3545"/>
                </a:solidFill>
              </a:defRPr>
            </a:pPr>
            <a:r>
              <a:rPr sz="1200" dirty="0"/>
              <a:t>CRITICAL TECHNICAL DECISIONS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1. </a:t>
            </a:r>
            <a:r>
              <a:rPr sz="1000" dirty="0" err="1"/>
              <a:t>LangGraph</a:t>
            </a:r>
            <a:r>
              <a:rPr sz="1000" dirty="0"/>
              <a:t> over Airflow: Cyclic workflows (follow-up loops)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2. OR-Tools over LLM: Mathematical guarantees (no hallucination)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3. Custom Python for risk: Latency &lt;100ms (LLM is 1-3 sec)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4. Hash-chained audit: Tamper evidence (compliance)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5. Shadow mode first: Trust building (validate before automate)</a:t>
            </a:r>
          </a:p>
          <a:p>
            <a:pPr>
              <a:spcAft>
                <a:spcPts val="200"/>
              </a:spcAft>
              <a:defRPr sz="700"/>
            </a:pPr>
            <a:r>
              <a:rPr sz="1000" dirty="0"/>
              <a:t>6. Variable W1/W4 cadence: Cost optimization (80% compute cut)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Agentic AI for Delivery Assurance | AI-Data Scientist Interview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66f97f8-1f65-4440-afff-6cc790915837}" enabled="1" method="Privileged" siteId="{f38a5ecd-2813-4862-b11b-ac1d563c806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1742</Words>
  <Application>Microsoft Office PowerPoint</Application>
  <PresentationFormat>On-screen Show (4:3)</PresentationFormat>
  <Paragraphs>227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Rashmi Bhat Kekanaje</cp:lastModifiedBy>
  <cp:revision>1</cp:revision>
  <dcterms:created xsi:type="dcterms:W3CDTF">2013-01-27T09:14:16Z</dcterms:created>
  <dcterms:modified xsi:type="dcterms:W3CDTF">2026-05-10T08:31:10Z</dcterms:modified>
  <cp:category/>
</cp:coreProperties>
</file>