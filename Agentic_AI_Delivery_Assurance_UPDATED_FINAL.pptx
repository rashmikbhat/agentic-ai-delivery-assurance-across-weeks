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58" r:id="rId4"/>
    <p:sldId id="259" r:id="rId5"/>
    <p:sldId id="262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5C8A30-5CE5-4C10-9A35-4D6F639E3CB0}" v="14" dt="2026-05-12T04:45:39.6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2004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shmi Bhat Kekanaje" userId="33b2e9ea-e347-4a93-907a-aa92300ac3d3" providerId="ADAL" clId="{79AD01B1-C200-4FAB-8E05-6A4BF7F578BF}"/>
    <pc:docChg chg="undo custSel mod addSld delSld modSld modMainMaster">
      <pc:chgData name="Rashmi Bhat Kekanaje" userId="33b2e9ea-e347-4a93-907a-aa92300ac3d3" providerId="ADAL" clId="{79AD01B1-C200-4FAB-8E05-6A4BF7F578BF}" dt="2026-05-12T07:56:17.281" v="621" actId="1076"/>
      <pc:docMkLst>
        <pc:docMk/>
      </pc:docMkLst>
      <pc:sldChg chg="addSp delSp modSp mod">
        <pc:chgData name="Rashmi Bhat Kekanaje" userId="33b2e9ea-e347-4a93-907a-aa92300ac3d3" providerId="ADAL" clId="{79AD01B1-C200-4FAB-8E05-6A4BF7F578BF}" dt="2026-05-12T05:33:08.411" v="421" actId="20577"/>
        <pc:sldMkLst>
          <pc:docMk/>
          <pc:sldMk cId="0" sldId="256"/>
        </pc:sldMkLst>
        <pc:spChg chg="mod">
          <ac:chgData name="Rashmi Bhat Kekanaje" userId="33b2e9ea-e347-4a93-907a-aa92300ac3d3" providerId="ADAL" clId="{79AD01B1-C200-4FAB-8E05-6A4BF7F578BF}" dt="2026-05-11T15:32:31.447" v="294" actId="255"/>
          <ac:spMkLst>
            <pc:docMk/>
            <pc:sldMk cId="0" sldId="256"/>
            <ac:spMk id="4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2T05:07:55.158" v="411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09T17:31:41.441" v="210" actId="6549"/>
          <ac:spMkLst>
            <pc:docMk/>
            <pc:sldMk cId="0" sldId="256"/>
            <ac:spMk id="13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2T05:33:08.411" v="421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09T16:55:11.867" v="48" actId="1038"/>
          <ac:spMkLst>
            <pc:docMk/>
            <pc:sldMk cId="0" sldId="256"/>
            <ac:spMk id="18" creationId="{00000000-0000-0000-0000-000000000000}"/>
          </ac:spMkLst>
        </pc:spChg>
        <pc:spChg chg="add mod">
          <ac:chgData name="Rashmi Bhat Kekanaje" userId="33b2e9ea-e347-4a93-907a-aa92300ac3d3" providerId="ADAL" clId="{79AD01B1-C200-4FAB-8E05-6A4BF7F578BF}" dt="2026-05-09T17:32:32.840" v="222" actId="255"/>
          <ac:spMkLst>
            <pc:docMk/>
            <pc:sldMk cId="0" sldId="256"/>
            <ac:spMk id="21" creationId="{00000000-0000-0000-0000-000000000000}"/>
          </ac:spMkLst>
        </pc:spChg>
        <pc:spChg chg="add mod">
          <ac:chgData name="Rashmi Bhat Kekanaje" userId="33b2e9ea-e347-4a93-907a-aa92300ac3d3" providerId="ADAL" clId="{79AD01B1-C200-4FAB-8E05-6A4BF7F578BF}" dt="2026-05-09T17:32:44.880" v="223" actId="255"/>
          <ac:spMkLst>
            <pc:docMk/>
            <pc:sldMk cId="0" sldId="256"/>
            <ac:spMk id="22" creationId="{00000000-0000-0000-0000-000000000000}"/>
          </ac:spMkLst>
        </pc:spChg>
        <pc:spChg chg="add mod">
          <ac:chgData name="Rashmi Bhat Kekanaje" userId="33b2e9ea-e347-4a93-907a-aa92300ac3d3" providerId="ADAL" clId="{79AD01B1-C200-4FAB-8E05-6A4BF7F578BF}" dt="2026-05-09T17:32:51.359" v="224" actId="255"/>
          <ac:spMkLst>
            <pc:docMk/>
            <pc:sldMk cId="0" sldId="256"/>
            <ac:spMk id="23" creationId="{00000000-0000-0000-0000-000000000000}"/>
          </ac:spMkLst>
        </pc:spChg>
        <pc:spChg chg="add mod">
          <ac:chgData name="Rashmi Bhat Kekanaje" userId="33b2e9ea-e347-4a93-907a-aa92300ac3d3" providerId="ADAL" clId="{79AD01B1-C200-4FAB-8E05-6A4BF7F578BF}" dt="2026-05-09T17:32:58.805" v="225" actId="255"/>
          <ac:spMkLst>
            <pc:docMk/>
            <pc:sldMk cId="0" sldId="256"/>
            <ac:spMk id="24" creationId="{00000000-0000-0000-0000-000000000000}"/>
          </ac:spMkLst>
        </pc:spChg>
      </pc:sldChg>
      <pc:sldChg chg="modSp mod">
        <pc:chgData name="Rashmi Bhat Kekanaje" userId="33b2e9ea-e347-4a93-907a-aa92300ac3d3" providerId="ADAL" clId="{79AD01B1-C200-4FAB-8E05-6A4BF7F578BF}" dt="2026-05-12T06:32:58.832" v="584" actId="20577"/>
        <pc:sldMkLst>
          <pc:docMk/>
          <pc:sldMk cId="0" sldId="258"/>
        </pc:sldMkLst>
        <pc:spChg chg="mod">
          <ac:chgData name="Rashmi Bhat Kekanaje" userId="33b2e9ea-e347-4a93-907a-aa92300ac3d3" providerId="ADAL" clId="{79AD01B1-C200-4FAB-8E05-6A4BF7F578BF}" dt="2026-05-12T06:32:58.832" v="584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2T04:43:50.659" v="326" actId="1076"/>
          <ac:spMkLst>
            <pc:docMk/>
            <pc:sldMk cId="0" sldId="258"/>
            <ac:spMk id="5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2T04:43:56.366" v="327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2T04:43:23.189" v="321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09T16:55:24.423" v="78" actId="20577"/>
          <ac:spMkLst>
            <pc:docMk/>
            <pc:sldMk cId="0" sldId="258"/>
            <ac:spMk id="8" creationId="{00000000-0000-0000-0000-000000000000}"/>
          </ac:spMkLst>
        </pc:spChg>
      </pc:sldChg>
      <pc:sldChg chg="addSp delSp modSp mod">
        <pc:chgData name="Rashmi Bhat Kekanaje" userId="33b2e9ea-e347-4a93-907a-aa92300ac3d3" providerId="ADAL" clId="{79AD01B1-C200-4FAB-8E05-6A4BF7F578BF}" dt="2026-05-12T04:44:21.977" v="328" actId="1076"/>
        <pc:sldMkLst>
          <pc:docMk/>
          <pc:sldMk cId="0" sldId="259"/>
        </pc:sldMkLst>
        <pc:spChg chg="mod">
          <ac:chgData name="Rashmi Bhat Kekanaje" userId="33b2e9ea-e347-4a93-907a-aa92300ac3d3" providerId="ADAL" clId="{79AD01B1-C200-4FAB-8E05-6A4BF7F578BF}" dt="2026-05-09T17:41:20.676" v="273" actId="255"/>
          <ac:spMkLst>
            <pc:docMk/>
            <pc:sldMk cId="0" sldId="259"/>
            <ac:spMk id="4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1T15:33:09.740" v="297" actId="255"/>
          <ac:spMkLst>
            <pc:docMk/>
            <pc:sldMk cId="0" sldId="259"/>
            <ac:spMk id="5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2T04:44:21.977" v="328" actId="1076"/>
          <ac:spMkLst>
            <pc:docMk/>
            <pc:sldMk cId="0" sldId="259"/>
            <ac:spMk id="7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09T16:55:38.494" v="108" actId="20577"/>
          <ac:spMkLst>
            <pc:docMk/>
            <pc:sldMk cId="0" sldId="259"/>
            <ac:spMk id="8" creationId="{00000000-0000-0000-0000-000000000000}"/>
          </ac:spMkLst>
        </pc:spChg>
        <pc:spChg chg="add mod">
          <ac:chgData name="Rashmi Bhat Kekanaje" userId="33b2e9ea-e347-4a93-907a-aa92300ac3d3" providerId="ADAL" clId="{79AD01B1-C200-4FAB-8E05-6A4BF7F578BF}" dt="2026-05-09T17:33:47.641" v="230" actId="255"/>
          <ac:spMkLst>
            <pc:docMk/>
            <pc:sldMk cId="0" sldId="259"/>
            <ac:spMk id="12" creationId="{00000000-0000-0000-0000-000000000000}"/>
          </ac:spMkLst>
        </pc:spChg>
        <pc:graphicFrameChg chg="add mod modGraphic">
          <ac:chgData name="Rashmi Bhat Kekanaje" userId="33b2e9ea-e347-4a93-907a-aa92300ac3d3" providerId="ADAL" clId="{79AD01B1-C200-4FAB-8E05-6A4BF7F578BF}" dt="2026-05-09T17:33:26.208" v="228" actId="255"/>
          <ac:graphicFrameMkLst>
            <pc:docMk/>
            <pc:sldMk cId="0" sldId="259"/>
            <ac:graphicFrameMk id="11" creationId="{00000000-0000-0000-0000-000000000000}"/>
          </ac:graphicFrameMkLst>
        </pc:graphicFrameChg>
      </pc:sldChg>
      <pc:sldChg chg="modSp add mod">
        <pc:chgData name="Rashmi Bhat Kekanaje" userId="33b2e9ea-e347-4a93-907a-aa92300ac3d3" providerId="ADAL" clId="{79AD01B1-C200-4FAB-8E05-6A4BF7F578BF}" dt="2026-05-12T06:26:00.144" v="553" actId="14734"/>
        <pc:sldMkLst>
          <pc:docMk/>
          <pc:sldMk cId="0" sldId="261"/>
        </pc:sldMkLst>
        <pc:spChg chg="mod">
          <ac:chgData name="Rashmi Bhat Kekanaje" userId="33b2e9ea-e347-4a93-907a-aa92300ac3d3" providerId="ADAL" clId="{79AD01B1-C200-4FAB-8E05-6A4BF7F578BF}" dt="2026-05-09T17:40:01.114" v="267" actId="255"/>
          <ac:spMkLst>
            <pc:docMk/>
            <pc:sldMk cId="0" sldId="261"/>
            <ac:spMk id="2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09T17:29:14.594" v="191" actId="255"/>
          <ac:spMkLst>
            <pc:docMk/>
            <pc:sldMk cId="0" sldId="261"/>
            <ac:spMk id="3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09T17:38:10.234" v="260" actId="255"/>
          <ac:spMkLst>
            <pc:docMk/>
            <pc:sldMk cId="0" sldId="261"/>
            <ac:spMk id="4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09T17:40:39.608" v="268" actId="255"/>
          <ac:spMkLst>
            <pc:docMk/>
            <pc:sldMk cId="0" sldId="261"/>
            <ac:spMk id="5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09T17:40:39.608" v="268" actId="255"/>
          <ac:spMkLst>
            <pc:docMk/>
            <pc:sldMk cId="0" sldId="261"/>
            <ac:spMk id="6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09T17:40:39.608" v="268" actId="255"/>
          <ac:spMkLst>
            <pc:docMk/>
            <pc:sldMk cId="0" sldId="261"/>
            <ac:spMk id="7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09T17:40:39.608" v="268" actId="255"/>
          <ac:spMkLst>
            <pc:docMk/>
            <pc:sldMk cId="0" sldId="261"/>
            <ac:spMk id="8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2T06:01:30.260" v="519" actId="1076"/>
          <ac:spMkLst>
            <pc:docMk/>
            <pc:sldMk cId="0" sldId="261"/>
            <ac:spMk id="9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2T06:00:59.860" v="517" actId="1076"/>
          <ac:spMkLst>
            <pc:docMk/>
            <pc:sldMk cId="0" sldId="261"/>
            <ac:spMk id="10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2T06:08:10.011" v="552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2T06:00:51.393" v="516" actId="1076"/>
          <ac:spMkLst>
            <pc:docMk/>
            <pc:sldMk cId="0" sldId="261"/>
            <ac:spMk id="13" creationId="{00000000-0000-0000-0000-000000000000}"/>
          </ac:spMkLst>
        </pc:spChg>
        <pc:graphicFrameChg chg="mod modGraphic">
          <ac:chgData name="Rashmi Bhat Kekanaje" userId="33b2e9ea-e347-4a93-907a-aa92300ac3d3" providerId="ADAL" clId="{79AD01B1-C200-4FAB-8E05-6A4BF7F578BF}" dt="2026-05-12T06:26:00.144" v="553" actId="14734"/>
          <ac:graphicFrameMkLst>
            <pc:docMk/>
            <pc:sldMk cId="0" sldId="261"/>
            <ac:graphicFrameMk id="11" creationId="{00000000-0000-0000-0000-000000000000}"/>
          </ac:graphicFrameMkLst>
        </pc:graphicFrameChg>
      </pc:sldChg>
      <pc:sldChg chg="delSp modSp add del mod">
        <pc:chgData name="Rashmi Bhat Kekanaje" userId="33b2e9ea-e347-4a93-907a-aa92300ac3d3" providerId="ADAL" clId="{79AD01B1-C200-4FAB-8E05-6A4BF7F578BF}" dt="2026-05-12T07:56:17.281" v="621" actId="1076"/>
        <pc:sldMkLst>
          <pc:docMk/>
          <pc:sldMk cId="0" sldId="262"/>
        </pc:sldMkLst>
        <pc:spChg chg="mod">
          <ac:chgData name="Rashmi Bhat Kekanaje" userId="33b2e9ea-e347-4a93-907a-aa92300ac3d3" providerId="ADAL" clId="{79AD01B1-C200-4FAB-8E05-6A4BF7F578BF}" dt="2026-05-11T15:34:55.441" v="310" actId="1076"/>
          <ac:spMkLst>
            <pc:docMk/>
            <pc:sldMk cId="0" sldId="262"/>
            <ac:spMk id="4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1T15:35:41.416" v="316" actId="1076"/>
          <ac:spMkLst>
            <pc:docMk/>
            <pc:sldMk cId="0" sldId="262"/>
            <ac:spMk id="5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1T15:35:27.648" v="315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1T15:35:22.935" v="314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1T15:34:47.051" v="309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1T15:34:23.165" v="305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2T07:56:00.985" v="619" actId="11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2T07:55:41.629" v="617" actId="207"/>
          <ac:spMkLst>
            <pc:docMk/>
            <pc:sldMk cId="0" sldId="262"/>
            <ac:spMk id="11" creationId="{00000000-0000-0000-0000-000000000000}"/>
          </ac:spMkLst>
        </pc:spChg>
        <pc:spChg chg="mod">
          <ac:chgData name="Rashmi Bhat Kekanaje" userId="33b2e9ea-e347-4a93-907a-aa92300ac3d3" providerId="ADAL" clId="{79AD01B1-C200-4FAB-8E05-6A4BF7F578BF}" dt="2026-05-12T07:55:47.317" v="618" actId="207"/>
          <ac:spMkLst>
            <pc:docMk/>
            <pc:sldMk cId="0" sldId="262"/>
            <ac:spMk id="12" creationId="{00000000-0000-0000-0000-000000000000}"/>
          </ac:spMkLst>
        </pc:spChg>
        <pc:spChg chg="del mod">
          <ac:chgData name="Rashmi Bhat Kekanaje" userId="33b2e9ea-e347-4a93-907a-aa92300ac3d3" providerId="ADAL" clId="{79AD01B1-C200-4FAB-8E05-6A4BF7F578BF}" dt="2026-05-12T07:56:17.281" v="621" actId="1076"/>
          <ac:spMkLst>
            <pc:docMk/>
            <pc:sldMk cId="0" sldId="262"/>
            <ac:spMk id="13" creationId="{00000000-0000-0000-0000-000000000000}"/>
          </ac:spMkLst>
        </pc:spChg>
        <pc:spChg chg="del mod">
          <ac:chgData name="Rashmi Bhat Kekanaje" userId="33b2e9ea-e347-4a93-907a-aa92300ac3d3" providerId="ADAL" clId="{79AD01B1-C200-4FAB-8E05-6A4BF7F578BF}" dt="2026-05-12T07:56:14.171" v="620" actId="1076"/>
          <ac:spMkLst>
            <pc:docMk/>
            <pc:sldMk cId="0" sldId="262"/>
            <ac:spMk id="14" creationId="{00000000-0000-0000-0000-000000000000}"/>
          </ac:spMkLst>
        </pc:spChg>
        <pc:spChg chg="del mod">
          <ac:chgData name="Rashmi Bhat Kekanaje" userId="33b2e9ea-e347-4a93-907a-aa92300ac3d3" providerId="ADAL" clId="{79AD01B1-C200-4FAB-8E05-6A4BF7F578BF}" dt="2026-05-12T07:10:40.640" v="603" actId="14100"/>
          <ac:spMkLst>
            <pc:docMk/>
            <pc:sldMk cId="0" sldId="262"/>
            <ac:spMk id="15" creationId="{00000000-0000-0000-0000-000000000000}"/>
          </ac:spMkLst>
        </pc:spChg>
        <pc:spChg chg="del mod">
          <ac:chgData name="Rashmi Bhat Kekanaje" userId="33b2e9ea-e347-4a93-907a-aa92300ac3d3" providerId="ADAL" clId="{79AD01B1-C200-4FAB-8E05-6A4BF7F578BF}" dt="2026-05-12T07:09:56.907" v="602" actId="1076"/>
          <ac:spMkLst>
            <pc:docMk/>
            <pc:sldMk cId="0" sldId="262"/>
            <ac:spMk id="16" creationId="{00000000-0000-0000-0000-000000000000}"/>
          </ac:spMkLst>
        </pc:spChg>
      </pc:sldChg>
      <pc:sldMasterChg chg="addSp delSp mod">
        <pc:chgData name="Rashmi Bhat Kekanaje" userId="33b2e9ea-e347-4a93-907a-aa92300ac3d3" providerId="ADAL" clId="{79AD01B1-C200-4FAB-8E05-6A4BF7F578BF}" dt="2026-05-09T16:54:46.046" v="13" actId="33475"/>
        <pc:sldMasterMkLst>
          <pc:docMk/>
          <pc:sldMasterMk cId="2209977519" sldId="2147483648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D233A"/>
          </a:solidFill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rPr dirty="0"/>
              <a:t>SLIDE 1: Problem Statement &amp; Agentic AI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0" y="4572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Manufacturing OTIF | Rolling Horizon W1-W4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4114800" cy="1513235"/>
          </a:xfrm>
          <a:prstGeom prst="rect">
            <a:avLst/>
          </a:prstGeom>
          <a:noFill/>
          <a:ln w="38100">
            <a:solidFill>
              <a:srgbClr val="DC3545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C3545"/>
                </a:solidFill>
              </a:defRPr>
            </a:pPr>
            <a:r>
              <a:rPr dirty="0"/>
              <a:t>THE PROBLEM</a:t>
            </a:r>
          </a:p>
          <a:p>
            <a:pPr>
              <a:spcAft>
                <a:spcPts val="400"/>
              </a:spcAft>
              <a:defRPr sz="900"/>
            </a:pPr>
            <a:r>
              <a:rPr sz="1000" dirty="0"/>
              <a:t>• Delivery misses: equipment downtime, UPH degradation, WIP bottlenecks</a:t>
            </a:r>
          </a:p>
          <a:p>
            <a:pPr>
              <a:spcAft>
                <a:spcPts val="400"/>
              </a:spcAft>
              <a:defRPr sz="900"/>
            </a:pPr>
            <a:r>
              <a:rPr sz="1000" dirty="0"/>
              <a:t>• Manual monitoring across MES/ERP/equipment by planners/IE</a:t>
            </a:r>
          </a:p>
          <a:p>
            <a:pPr>
              <a:spcAft>
                <a:spcPts val="400"/>
              </a:spcAft>
              <a:defRPr sz="900"/>
            </a:pPr>
            <a:r>
              <a:rPr sz="1000" dirty="0"/>
              <a:t>• Product mix complexity: different UPH rates (2 hrs/unit vs 1.5 hrs/unit), shared bottleneck capacity</a:t>
            </a:r>
          </a:p>
          <a:p>
            <a:pPr>
              <a:spcAft>
                <a:spcPts val="400"/>
              </a:spcAft>
              <a:defRPr sz="900"/>
            </a:pPr>
            <a:r>
              <a:rPr sz="1000" dirty="0"/>
              <a:t>• Local optimization harms downstream weeks (fix W1 → hurt W2-W4)</a:t>
            </a:r>
          </a:p>
          <a:p>
            <a:pPr>
              <a:spcAft>
                <a:spcPts val="400"/>
              </a:spcAft>
              <a:defRPr sz="900"/>
            </a:pPr>
            <a:r>
              <a:rPr sz="1000" dirty="0"/>
              <a:t>• No traceability for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731520"/>
            <a:ext cx="4206240" cy="1808187"/>
          </a:xfrm>
          <a:prstGeom prst="rect">
            <a:avLst/>
          </a:prstGeom>
          <a:noFill/>
          <a:ln w="38100">
            <a:solidFill>
              <a:srgbClr val="009688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9688"/>
                </a:solidFill>
              </a:defRPr>
            </a:pPr>
            <a:r>
              <a:rPr dirty="0"/>
              <a:t>THE SOLUTION: 6-AGENT SYSTEM</a:t>
            </a:r>
          </a:p>
          <a:p>
            <a:pPr>
              <a:spcAft>
                <a:spcPts val="300"/>
              </a:spcAft>
              <a:defRPr sz="900"/>
            </a:pPr>
            <a:r>
              <a:rPr sz="1000" dirty="0"/>
              <a:t>1. Data Quality: Freshness, keys, sanity</a:t>
            </a:r>
          </a:p>
          <a:p>
            <a:pPr>
              <a:spcAft>
                <a:spcPts val="300"/>
              </a:spcAft>
              <a:defRPr sz="900"/>
            </a:pPr>
            <a:r>
              <a:rPr sz="1000" dirty="0"/>
              <a:t>2. Risk Detection: ML + NumPy, 5 factors (OTIF gap, WIP, capacity, product mix, cross-week risk), &lt;100ms</a:t>
            </a:r>
          </a:p>
          <a:p>
            <a:pPr>
              <a:spcAft>
                <a:spcPts val="300"/>
              </a:spcAft>
              <a:defRPr sz="900"/>
            </a:pPr>
            <a:r>
              <a:rPr sz="1000" dirty="0"/>
              <a:t>3. Cause Classifier: LLM+RAG: 6 categories</a:t>
            </a:r>
            <a:r>
              <a:rPr lang="en-US" sz="1000" dirty="0"/>
              <a:t> (Downtime, UPH degradation, WIP queue, Material shortages, Quality, Other)</a:t>
            </a:r>
            <a:endParaRPr sz="1000" dirty="0"/>
          </a:p>
          <a:p>
            <a:pPr>
              <a:spcAft>
                <a:spcPts val="300"/>
              </a:spcAft>
              <a:defRPr sz="900"/>
            </a:pPr>
            <a:r>
              <a:rPr sz="1000" dirty="0"/>
              <a:t>4. Follow-Up: Auto-ping with SLA</a:t>
            </a:r>
          </a:p>
          <a:p>
            <a:pPr>
              <a:spcAft>
                <a:spcPts val="300"/>
              </a:spcAft>
              <a:defRPr sz="900"/>
            </a:pPr>
            <a:r>
              <a:rPr sz="1000" dirty="0"/>
              <a:t>5. Trade-Off Engine: OR-Tools simulation</a:t>
            </a:r>
          </a:p>
          <a:p>
            <a:pPr>
              <a:spcAft>
                <a:spcPts val="300"/>
              </a:spcAft>
              <a:defRPr sz="900"/>
            </a:pPr>
            <a:r>
              <a:rPr sz="1000" dirty="0"/>
              <a:t>6. Action &amp; Audit: Execute + audit 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65176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233A"/>
                </a:solidFill>
              </a:defRPr>
            </a:pPr>
            <a:r>
              <a:rPr dirty="0"/>
              <a:t>END-TO-END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017520"/>
            <a:ext cx="1188720" cy="411480"/>
          </a:xfrm>
          <a:prstGeom prst="rect">
            <a:avLst/>
          </a:prstGeom>
          <a:solidFill>
            <a:srgbClr val="0D233A"/>
          </a:solidFill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017520"/>
            <a:ext cx="1188720" cy="411480"/>
          </a:xfrm>
          <a:prstGeom prst="rect">
            <a:avLst/>
          </a:prstGeom>
          <a:solidFill>
            <a:srgbClr val="DC3545"/>
          </a:solidFill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DETECT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017520"/>
            <a:ext cx="1188720" cy="411480"/>
          </a:xfrm>
          <a:prstGeom prst="rect">
            <a:avLst/>
          </a:prstGeom>
          <a:solidFill>
            <a:srgbClr val="009688"/>
          </a:solidFill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dirty="0"/>
              <a:t>CLASSIFY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017520"/>
            <a:ext cx="1188720" cy="411480"/>
          </a:xfrm>
          <a:prstGeom prst="rect">
            <a:avLst/>
          </a:prstGeom>
          <a:solidFill>
            <a:srgbClr val="FF9800"/>
          </a:solidFill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FOLLOW-UP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3017520"/>
            <a:ext cx="1188720" cy="411480"/>
          </a:xfrm>
          <a:prstGeom prst="rect">
            <a:avLst/>
          </a:prstGeom>
          <a:solidFill>
            <a:srgbClr val="4CAF50"/>
          </a:solidFill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TRADE-OFF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017520"/>
            <a:ext cx="1188720" cy="411480"/>
          </a:xfrm>
          <a:prstGeom prst="rect">
            <a:avLst/>
          </a:prstGeom>
          <a:solidFill>
            <a:srgbClr val="9C27B0"/>
          </a:solidFill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566160"/>
            <a:ext cx="2011680" cy="394980"/>
          </a:xfrm>
          <a:prstGeom prst="rect">
            <a:avLst/>
          </a:prstGeom>
          <a:solidFill>
            <a:srgbClr val="9C27B0"/>
          </a:solidFill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</a:defRPr>
            </a:pPr>
            <a:r>
              <a:rPr dirty="0"/>
              <a:t>W1 EXECUTE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rPr dirty="0"/>
              <a:t>Real-</a:t>
            </a:r>
            <a:r>
              <a:rPr dirty="0" err="1"/>
              <a:t>tim</a:t>
            </a:r>
            <a:r>
              <a:rPr dirty="0"/>
              <a:t> | Queue busters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23933"/>
            <a:ext cx="8697402" cy="1072088"/>
          </a:xfrm>
          <a:prstGeom prst="rect">
            <a:avLst/>
          </a:prstGeom>
          <a:noFill/>
          <a:ln w="25400">
            <a:solidFill>
              <a:srgbClr val="DC3545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DC3545"/>
                </a:solidFill>
              </a:defRPr>
            </a:pPr>
            <a:r>
              <a:rPr dirty="0"/>
              <a:t>FAILURE MODES &amp; FALLBACKS</a:t>
            </a:r>
          </a:p>
          <a:p>
            <a:pPr>
              <a:spcAft>
                <a:spcPts val="300"/>
              </a:spcAft>
              <a:defRPr sz="900"/>
            </a:pPr>
            <a:r>
              <a:rPr lang="en-US" sz="1000" dirty="0"/>
              <a:t>• Kafka down: PostgreSQL CDC (30-sec lag) + DEGRADED MODE banner</a:t>
            </a:r>
          </a:p>
          <a:p>
            <a:pPr>
              <a:spcAft>
                <a:spcPts val="300"/>
              </a:spcAft>
              <a:defRPr sz="900"/>
            </a:pPr>
            <a:r>
              <a:rPr lang="en-US" sz="1000" dirty="0"/>
              <a:t>• LLM timeout: 3 retries → escalate to human classification</a:t>
            </a:r>
          </a:p>
          <a:p>
            <a:pPr>
              <a:spcAft>
                <a:spcPts val="300"/>
              </a:spcAft>
              <a:defRPr sz="900"/>
            </a:pPr>
            <a:r>
              <a:rPr sz="1000" dirty="0"/>
              <a:t>• Stale data: Block auto-execute + MANUAL MODE alert</a:t>
            </a:r>
          </a:p>
          <a:p>
            <a:pPr>
              <a:spcAft>
                <a:spcPts val="300"/>
              </a:spcAft>
              <a:defRPr sz="900"/>
            </a:pPr>
            <a:r>
              <a:rPr sz="1000" dirty="0"/>
              <a:t>• No feasible solution: Alert planner with constraint details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9574" y="6583680"/>
            <a:ext cx="1564851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</a:defRPr>
            </a:pPr>
            <a:r>
              <a:rPr dirty="0"/>
              <a:t>Agentic AI for Delivery Assurance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3566160"/>
            <a:ext cx="2011680" cy="548640"/>
          </a:xfrm>
          <a:prstGeom prst="rect">
            <a:avLst/>
          </a:prstGeom>
          <a:solidFill>
            <a:srgbClr val="9C27B0"/>
          </a:solidFill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</a:defRPr>
            </a:pPr>
            <a:r>
              <a:rPr dirty="0"/>
              <a:t>W1 EXECUTE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rPr sz="900" dirty="0"/>
              <a:t>0-7 days | Every 2 hrs | Queue busters, expedites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19" y="3566160"/>
            <a:ext cx="2011680" cy="548640"/>
          </a:xfrm>
          <a:prstGeom prst="rect">
            <a:avLst/>
          </a:prstGeom>
          <a:solidFill>
            <a:srgbClr val="0066CC"/>
          </a:solidFill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</a:defRPr>
            </a:pPr>
            <a:r>
              <a:rPr dirty="0"/>
              <a:t>W2 RECOVER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rPr sz="900" dirty="0"/>
              <a:t>7-14 days | Every 2 hrs | Re-sequence, maintenance ETA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66160"/>
            <a:ext cx="2011680" cy="548640"/>
          </a:xfrm>
          <a:prstGeom prst="rect">
            <a:avLst/>
          </a:prstGeom>
          <a:solidFill>
            <a:srgbClr val="009688"/>
          </a:solidFill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</a:defRPr>
            </a:pPr>
            <a:r>
              <a:rPr dirty="0"/>
              <a:t>W3 PLAN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rPr sz="900" dirty="0"/>
              <a:t>14-21 days | 3x/week | Mix balance, build-ahead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566160"/>
            <a:ext cx="2011680" cy="548640"/>
          </a:xfrm>
          <a:prstGeom prst="rect">
            <a:avLst/>
          </a:prstGeom>
          <a:solidFill>
            <a:srgbClr val="FF9800"/>
          </a:solidFill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</a:defRPr>
            </a:pPr>
            <a:r>
              <a:rPr dirty="0"/>
              <a:t>W4 BALANCE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rPr sz="900" dirty="0"/>
              <a:t>21-28 days | 3x/week | Strategic buffers, demand shaping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9203635" cy="400110"/>
          </a:xfrm>
          <a:prstGeom prst="rect">
            <a:avLst/>
          </a:prstGeom>
          <a:solidFill>
            <a:srgbClr val="0D233A"/>
          </a:solidFill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rPr sz="2000" dirty="0"/>
              <a:t>SLIDE 2: Data Architecture &amp;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25668" y="45720"/>
            <a:ext cx="222689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rPr sz="1000" dirty="0"/>
              <a:t>Kafka | CDC | Vector DB | TimescaleDB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59502"/>
            <a:ext cx="20316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233A"/>
                </a:solidFill>
              </a:defRPr>
            </a:pPr>
            <a:r>
              <a:rPr sz="1200" dirty="0"/>
              <a:t>DATA SOURCES &amp;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1508760" cy="931024"/>
          </a:xfrm>
          <a:prstGeom prst="rect">
            <a:avLst/>
          </a:prstGeom>
          <a:noFill/>
          <a:ln w="25400">
            <a:solidFill>
              <a:srgbClr val="009688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09688"/>
                </a:solidFill>
              </a:defRPr>
            </a:pPr>
            <a:r>
              <a:rPr sz="1200" dirty="0"/>
              <a:t>MES</a:t>
            </a:r>
          </a:p>
          <a:p>
            <a:pPr>
              <a:spcAft>
                <a:spcPts val="100"/>
              </a:spcAft>
              <a:defRPr sz="700"/>
            </a:pPr>
            <a:r>
              <a:rPr sz="1000" dirty="0" err="1"/>
              <a:t>Debezium</a:t>
            </a:r>
            <a:r>
              <a:rPr sz="1000" dirty="0"/>
              <a:t> CDC → Kafka (</a:t>
            </a:r>
            <a:r>
              <a:rPr sz="1000" dirty="0" err="1"/>
              <a:t>mes.wip.changes</a:t>
            </a:r>
            <a:r>
              <a:rPr sz="1000" dirty="0"/>
              <a:t>)</a:t>
            </a:r>
            <a:br>
              <a:rPr sz="1000" dirty="0"/>
            </a:br>
            <a:r>
              <a:rPr sz="1000" dirty="0"/>
              <a:t>Avro | 2-hour batch (W1)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005840"/>
            <a:ext cx="1508760" cy="777136"/>
          </a:xfrm>
          <a:prstGeom prst="rect">
            <a:avLst/>
          </a:prstGeom>
          <a:noFill/>
          <a:ln w="25400">
            <a:solidFill>
              <a:srgbClr val="FF980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FF9800"/>
                </a:solidFill>
              </a:defRPr>
            </a:pPr>
            <a:r>
              <a:rPr sz="1200" dirty="0"/>
              <a:t>Equipment</a:t>
            </a:r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MQTT (</a:t>
            </a:r>
            <a:r>
              <a:rPr sz="1000" dirty="0" err="1"/>
              <a:t>HiveMQ</a:t>
            </a:r>
            <a:r>
              <a:rPr sz="1000" dirty="0"/>
              <a:t>) → Kafka</a:t>
            </a:r>
            <a:br>
              <a:rPr sz="1000" dirty="0"/>
            </a:br>
            <a:r>
              <a:rPr sz="1000" dirty="0" err="1"/>
              <a:t>Protobuf</a:t>
            </a:r>
            <a:r>
              <a:rPr sz="1000" dirty="0"/>
              <a:t> | Event-driven &lt;100ms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005840"/>
            <a:ext cx="1508760" cy="931024"/>
          </a:xfrm>
          <a:prstGeom prst="rect">
            <a:avLst/>
          </a:prstGeom>
          <a:noFill/>
          <a:ln w="25400">
            <a:solidFill>
              <a:srgbClr val="2196F3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2196F3"/>
                </a:solidFill>
              </a:defRPr>
            </a:pPr>
            <a:r>
              <a:rPr sz="1200" dirty="0"/>
              <a:t>ERP</a:t>
            </a:r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Airflow DAG → S3 → Kafka</a:t>
            </a:r>
            <a:br>
              <a:rPr sz="1000" dirty="0"/>
            </a:br>
            <a:r>
              <a:rPr sz="1000" dirty="0"/>
              <a:t>Parquet | Daily on schedule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005840"/>
            <a:ext cx="1508760" cy="777136"/>
          </a:xfrm>
          <a:prstGeom prst="rect">
            <a:avLst/>
          </a:prstGeom>
          <a:noFill/>
          <a:ln w="25400">
            <a:solidFill>
              <a:srgbClr val="4CAF5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4CAF50"/>
                </a:solidFill>
              </a:defRPr>
            </a:pPr>
            <a:r>
              <a:rPr sz="1200" dirty="0"/>
              <a:t>Quality</a:t>
            </a:r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REST API → Kafka</a:t>
            </a:r>
            <a:br>
              <a:rPr sz="1000" dirty="0"/>
            </a:br>
            <a:r>
              <a:rPr sz="1000" dirty="0"/>
              <a:t>JSON | Hourly batch + real-time alerts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78994" y="583566"/>
            <a:ext cx="1920240" cy="1469633"/>
          </a:xfrm>
          <a:prstGeom prst="rect">
            <a:avLst/>
          </a:prstGeom>
          <a:solidFill>
            <a:srgbClr val="F3E5F5"/>
          </a:solidFill>
          <a:ln w="25400">
            <a:solidFill>
              <a:srgbClr val="9C27B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9C27B0"/>
                </a:solidFill>
              </a:defRPr>
            </a:pPr>
            <a:r>
              <a:rPr sz="1200" dirty="0"/>
              <a:t>VECTOR DB (RAG)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• Embedding: embedding model (size TBD)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• Store: chunked appropriately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• Retrieval: Hybrid (dense + BM25), top-k=5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• Use: LLM context for root cause classification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271537"/>
            <a:ext cx="165064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233A"/>
                </a:solidFill>
              </a:defRPr>
            </a:pPr>
            <a:r>
              <a:rPr sz="1200" dirty="0"/>
              <a:t>KEY TABLES &amp; SCHEMA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424504"/>
              </p:ext>
            </p:extLst>
          </p:nvPr>
        </p:nvGraphicFramePr>
        <p:xfrm>
          <a:off x="274320" y="2745198"/>
          <a:ext cx="8595360" cy="2063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34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157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000"/>
                        <a:t>Table</a:t>
                      </a:r>
                    </a:p>
                  </a:txBody>
                  <a:tcPr anchor="ctr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000"/>
                        <a:t>Key Fields</a:t>
                      </a:r>
                    </a:p>
                  </a:txBody>
                  <a:tcPr anchor="ctr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000"/>
                        <a:t>Update Freq</a:t>
                      </a:r>
                    </a:p>
                  </a:txBody>
                  <a:tcPr anchor="ctr">
                    <a:solidFill>
                      <a:srgbClr val="0D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575">
                <a:tc>
                  <a:txBody>
                    <a:bodyPr/>
                    <a:lstStyle/>
                    <a:p>
                      <a:pPr>
                        <a:defRPr sz="700" b="1"/>
                      </a:pPr>
                      <a:r>
                        <a:rPr sz="1000" dirty="0" err="1"/>
                        <a:t>wip_snapshot</a:t>
                      </a:r>
                      <a:r>
                        <a:rPr lang="en-US" sz="1000" dirty="0"/>
                        <a:t> (current </a:t>
                      </a:r>
                      <a:r>
                        <a:rPr lang="en-US" sz="1000" dirty="0" err="1"/>
                        <a:t>wip</a:t>
                      </a:r>
                      <a:r>
                        <a:rPr lang="en-US" sz="1000" dirty="0"/>
                        <a:t> snapshot)</a:t>
                      </a:r>
                      <a:endParaRPr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rPr sz="1000"/>
                        <a:t>lot_id, product_family, current_step, queue_time_mins, hold_reason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rPr sz="1000" dirty="0"/>
                        <a:t>Hourly (W1/W2) / 3hrs (W3/W4)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575">
                <a:tc>
                  <a:txBody>
                    <a:bodyPr/>
                    <a:lstStyle/>
                    <a:p>
                      <a:pPr>
                        <a:defRPr sz="700" b="1"/>
                      </a:pPr>
                      <a:r>
                        <a:rPr sz="1000" dirty="0" err="1"/>
                        <a:t>route_master</a:t>
                      </a:r>
                      <a:r>
                        <a:rPr lang="en-US" sz="1000" dirty="0"/>
                        <a:t> (process flow)</a:t>
                      </a:r>
                      <a:endParaRPr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rPr sz="1000"/>
                        <a:t>product_family, step_seq, tool_group, baseline_uph, load_factor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rPr sz="1000"/>
                        <a:t>On changes only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575">
                <a:tc>
                  <a:txBody>
                    <a:bodyPr/>
                    <a:lstStyle/>
                    <a:p>
                      <a:pPr>
                        <a:defRPr sz="700" b="1"/>
                      </a:pPr>
                      <a:r>
                        <a:rPr sz="1000" dirty="0" err="1"/>
                        <a:t>tool_status</a:t>
                      </a:r>
                      <a:r>
                        <a:rPr lang="en-US" sz="1000" dirty="0"/>
                        <a:t> (tracks equipment)</a:t>
                      </a:r>
                      <a:endParaRPr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rPr sz="1000" dirty="0" err="1"/>
                        <a:t>tool_id</a:t>
                      </a:r>
                      <a:r>
                        <a:rPr sz="1000" dirty="0"/>
                        <a:t>, </a:t>
                      </a:r>
                      <a:r>
                        <a:rPr sz="1000" dirty="0" err="1"/>
                        <a:t>tool_group</a:t>
                      </a:r>
                      <a:r>
                        <a:rPr sz="1000" dirty="0"/>
                        <a:t>, status, </a:t>
                      </a:r>
                      <a:r>
                        <a:rPr sz="1000" dirty="0" err="1"/>
                        <a:t>eta_recovery</a:t>
                      </a:r>
                      <a:r>
                        <a:rPr sz="1000" dirty="0"/>
                        <a:t>, </a:t>
                      </a:r>
                      <a:r>
                        <a:rPr sz="1000" dirty="0" err="1"/>
                        <a:t>owner_id</a:t>
                      </a:r>
                      <a:endParaRPr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rPr sz="1000"/>
                        <a:t>Real-time events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575">
                <a:tc>
                  <a:txBody>
                    <a:bodyPr/>
                    <a:lstStyle/>
                    <a:p>
                      <a:pPr>
                        <a:defRPr sz="700" b="1"/>
                      </a:pPr>
                      <a:r>
                        <a:rPr sz="1000" dirty="0" err="1"/>
                        <a:t>oee_hourly</a:t>
                      </a:r>
                      <a:r>
                        <a:rPr lang="en-US" sz="1000" dirty="0"/>
                        <a:t> (equipment performance)</a:t>
                      </a:r>
                      <a:endParaRPr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rPr sz="1000" dirty="0" err="1"/>
                        <a:t>tool_group</a:t>
                      </a:r>
                      <a:r>
                        <a:rPr sz="1000" dirty="0"/>
                        <a:t>, availability, performance, quality, </a:t>
                      </a:r>
                      <a:r>
                        <a:rPr sz="1000" dirty="0" err="1"/>
                        <a:t>oee</a:t>
                      </a:r>
                      <a:r>
                        <a:rPr sz="1000" dirty="0"/>
                        <a:t>, </a:t>
                      </a:r>
                      <a:r>
                        <a:rPr sz="1000" dirty="0" err="1"/>
                        <a:t>uph_actual</a:t>
                      </a:r>
                      <a:endParaRPr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rPr sz="1000"/>
                        <a:t>Hourly rollups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575">
                <a:tc>
                  <a:txBody>
                    <a:bodyPr/>
                    <a:lstStyle/>
                    <a:p>
                      <a:pPr>
                        <a:defRPr sz="700" b="1"/>
                      </a:pPr>
                      <a:r>
                        <a:rPr sz="1000" dirty="0" err="1"/>
                        <a:t>capacity_vs_demand</a:t>
                      </a:r>
                      <a:r>
                        <a:rPr lang="en-US" sz="1000" dirty="0"/>
                        <a:t> (summary)</a:t>
                      </a:r>
                      <a:endParaRPr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rPr sz="1000" dirty="0" err="1"/>
                        <a:t>week_bucket</a:t>
                      </a:r>
                      <a:r>
                        <a:rPr sz="1000" dirty="0"/>
                        <a:t>, </a:t>
                      </a:r>
                      <a:r>
                        <a:rPr sz="1000" dirty="0" err="1"/>
                        <a:t>tool_group</a:t>
                      </a:r>
                      <a:r>
                        <a:rPr sz="1000" dirty="0"/>
                        <a:t>, </a:t>
                      </a:r>
                      <a:r>
                        <a:rPr sz="1000" dirty="0" err="1"/>
                        <a:t>product_family</a:t>
                      </a:r>
                      <a:r>
                        <a:rPr sz="1000" dirty="0"/>
                        <a:t>, </a:t>
                      </a:r>
                      <a:r>
                        <a:rPr sz="1000" dirty="0" err="1"/>
                        <a:t>gap_units</a:t>
                      </a:r>
                      <a:r>
                        <a:rPr sz="1000" dirty="0"/>
                        <a:t>, </a:t>
                      </a:r>
                      <a:r>
                        <a:rPr sz="1000" dirty="0" err="1"/>
                        <a:t>gap_pct</a:t>
                      </a:r>
                      <a:endParaRPr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rPr sz="1000" dirty="0"/>
                        <a:t>4-hr (W1/W2) / Daily (W3/W4)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5125158"/>
            <a:ext cx="4178410" cy="1007968"/>
          </a:xfrm>
          <a:prstGeom prst="rect">
            <a:avLst/>
          </a:prstGeom>
          <a:noFill/>
          <a:ln w="25400">
            <a:solidFill>
              <a:srgbClr val="FF980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FF9800"/>
                </a:solidFill>
              </a:defRPr>
            </a:pPr>
            <a:r>
              <a:rPr sz="1200" dirty="0"/>
              <a:t>DATA QUALITY CHECKS (Great Expectations</a:t>
            </a:r>
            <a:r>
              <a:rPr lang="en-US" sz="1200" dirty="0"/>
              <a:t>- Unit tests for data</a:t>
            </a:r>
            <a:r>
              <a:rPr sz="1200" dirty="0"/>
              <a:t>)</a:t>
            </a:r>
          </a:p>
          <a:p>
            <a:pPr>
              <a:spcAft>
                <a:spcPts val="200"/>
              </a:spcAft>
              <a:defRPr sz="800"/>
            </a:pPr>
            <a:r>
              <a:rPr sz="1000" dirty="0"/>
              <a:t>• Freshness: MES lag &lt;</a:t>
            </a:r>
            <a:r>
              <a:rPr lang="en-US" sz="1000" dirty="0"/>
              <a:t>3</a:t>
            </a:r>
            <a:r>
              <a:rPr sz="1000" dirty="0"/>
              <a:t>0 min (W1), &lt;2 hrs (W2–W4)</a:t>
            </a:r>
          </a:p>
          <a:p>
            <a:pPr>
              <a:spcAft>
                <a:spcPts val="200"/>
              </a:spcAft>
              <a:defRPr sz="800"/>
            </a:pPr>
            <a:r>
              <a:rPr sz="1000" dirty="0"/>
              <a:t>• Missing keys: </a:t>
            </a:r>
            <a:r>
              <a:rPr sz="1000" dirty="0" err="1"/>
              <a:t>lot_id</a:t>
            </a:r>
            <a:r>
              <a:rPr sz="1000" dirty="0"/>
              <a:t> must exist in </a:t>
            </a:r>
            <a:r>
              <a:rPr sz="1000" dirty="0" err="1"/>
              <a:t>route_master</a:t>
            </a:r>
            <a:endParaRPr sz="1000" dirty="0"/>
          </a:p>
          <a:p>
            <a:pPr>
              <a:spcAft>
                <a:spcPts val="200"/>
              </a:spcAft>
              <a:defRPr sz="800"/>
            </a:pPr>
            <a:r>
              <a:rPr sz="1000" dirty="0"/>
              <a:t>• Sanity: UPH ≤2× baseline, queue &lt;7 days, OEE </a:t>
            </a:r>
            <a:r>
              <a:rPr lang="en-US" sz="1000" dirty="0"/>
              <a:t>&gt;</a:t>
            </a:r>
            <a:r>
              <a:rPr sz="1000" dirty="0"/>
              <a:t>100%</a:t>
            </a:r>
            <a:endParaRPr lang="en-US" sz="1000" dirty="0"/>
          </a:p>
          <a:p>
            <a:pPr>
              <a:spcAft>
                <a:spcPts val="200"/>
              </a:spcAft>
              <a:defRPr sz="800"/>
            </a:pPr>
            <a:endParaRPr sz="1000" dirty="0"/>
          </a:p>
        </p:txBody>
      </p:sp>
      <p:sp>
        <p:nvSpPr>
          <p:cNvPr id="13" name="TextBox 12"/>
          <p:cNvSpPr txBox="1"/>
          <p:nvPr/>
        </p:nvSpPr>
        <p:spPr>
          <a:xfrm>
            <a:off x="4572000" y="5125158"/>
            <a:ext cx="4297680" cy="969496"/>
          </a:xfrm>
          <a:prstGeom prst="rect">
            <a:avLst/>
          </a:prstGeom>
          <a:solidFill>
            <a:srgbClr val="E3F2FD"/>
          </a:solidFill>
          <a:ln w="25400">
            <a:solidFill>
              <a:srgbClr val="2196F3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2196F3"/>
                </a:solidFill>
              </a:defRPr>
            </a:pPr>
            <a:r>
              <a:rPr sz="1200" dirty="0"/>
              <a:t>DATA UNIFICATION (JOIN KEYS)</a:t>
            </a:r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• WIP = Equipment by </a:t>
            </a:r>
            <a:r>
              <a:rPr sz="1000" dirty="0" err="1"/>
              <a:t>lot_id</a:t>
            </a:r>
            <a:r>
              <a:rPr sz="1000" dirty="0"/>
              <a:t>, </a:t>
            </a:r>
            <a:r>
              <a:rPr sz="1000" dirty="0" err="1"/>
              <a:t>step_name</a:t>
            </a:r>
            <a:r>
              <a:rPr sz="1000" dirty="0"/>
              <a:t> → </a:t>
            </a:r>
            <a:r>
              <a:rPr sz="1000" dirty="0" err="1"/>
              <a:t>tool_group</a:t>
            </a:r>
            <a:endParaRPr sz="1000" dirty="0"/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• Demand = WIP: </a:t>
            </a:r>
            <a:r>
              <a:rPr sz="1000" dirty="0" err="1"/>
              <a:t>product_id</a:t>
            </a:r>
            <a:r>
              <a:rPr sz="1000" dirty="0"/>
              <a:t> + </a:t>
            </a:r>
            <a:r>
              <a:rPr sz="1000" dirty="0" err="1"/>
              <a:t>week_bucket</a:t>
            </a:r>
            <a:r>
              <a:rPr sz="1000" dirty="0"/>
              <a:t> → </a:t>
            </a:r>
            <a:r>
              <a:rPr sz="1000" dirty="0" err="1"/>
              <a:t>lot_pipeline</a:t>
            </a:r>
            <a:endParaRPr sz="1000" dirty="0"/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• OEE = Capacity by </a:t>
            </a:r>
            <a:r>
              <a:rPr sz="1000" dirty="0" err="1"/>
              <a:t>tool_group</a:t>
            </a:r>
            <a:r>
              <a:rPr sz="1000" dirty="0"/>
              <a:t> + time → </a:t>
            </a:r>
            <a:r>
              <a:rPr sz="1000" dirty="0" err="1"/>
              <a:t>capacity_gap_pct</a:t>
            </a:r>
            <a:endParaRPr sz="1000" dirty="0"/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• Quality = WIP: </a:t>
            </a:r>
            <a:r>
              <a:rPr sz="1000" dirty="0" err="1"/>
              <a:t>lot_id</a:t>
            </a:r>
            <a:r>
              <a:rPr sz="1000" dirty="0"/>
              <a:t> (drives)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1053" y="6583680"/>
            <a:ext cx="340189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</a:defRPr>
            </a:pPr>
            <a:r>
              <a:rPr sz="1000"/>
              <a:t>Agentic AI for Delivery Assurance | AI-Data Scientist Interview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D233A"/>
          </a:solidFill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3: Agent Implementation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572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rPr dirty="0"/>
              <a:t>LangGraph | LangChain | ReAct | OR-Tools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8595360" cy="1225977"/>
          </a:xfrm>
          <a:prstGeom prst="rect">
            <a:avLst/>
          </a:prstGeom>
          <a:noFill/>
          <a:ln w="25400">
            <a:solidFill>
              <a:srgbClr val="009688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9688"/>
                </a:solidFill>
              </a:defRPr>
            </a:pPr>
            <a:r>
              <a:rPr sz="1200" dirty="0"/>
              <a:t>CORE TECH STACK</a:t>
            </a:r>
          </a:p>
          <a:p>
            <a:pPr>
              <a:defRPr sz="800"/>
            </a:pPr>
            <a:r>
              <a:rPr lang="en-US" sz="1000" dirty="0"/>
              <a:t>• LangGraph → State-machine orchestration  </a:t>
            </a:r>
          </a:p>
          <a:p>
            <a:pPr>
              <a:defRPr sz="800"/>
            </a:pPr>
            <a:r>
              <a:rPr lang="en-US" sz="1000" dirty="0"/>
              <a:t>• LangChain → Tool binding, LLM routing  </a:t>
            </a:r>
          </a:p>
          <a:p>
            <a:pPr>
              <a:defRPr sz="800"/>
            </a:pPr>
            <a:r>
              <a:rPr lang="en-US" sz="1000" dirty="0"/>
              <a:t>• Primary and secondary LLMs → Reasoning, classification  </a:t>
            </a:r>
          </a:p>
          <a:p>
            <a:pPr>
              <a:defRPr sz="800"/>
            </a:pPr>
            <a:r>
              <a:rPr lang="en-US" sz="1000" dirty="0"/>
              <a:t>• Vector DB → for RAG  </a:t>
            </a:r>
          </a:p>
          <a:p>
            <a:pPr>
              <a:defRPr sz="800"/>
            </a:pPr>
            <a:r>
              <a:rPr lang="en-US" sz="1000" dirty="0"/>
              <a:t>• Managed Kafka → Event streaming, CDC  </a:t>
            </a:r>
          </a:p>
          <a:p>
            <a:pPr>
              <a:defRPr sz="800"/>
            </a:pPr>
            <a:r>
              <a:rPr lang="en-US" sz="1000" dirty="0"/>
              <a:t>• PostgreSQL → Structured + time-series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1" y="2071246"/>
            <a:ext cx="4206240" cy="2654573"/>
          </a:xfrm>
          <a:prstGeom prst="rect">
            <a:avLst/>
          </a:prstGeom>
          <a:solidFill>
            <a:srgbClr val="282C34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FFFFFF"/>
                </a:solidFill>
              </a:defRPr>
            </a:pPr>
            <a:r>
              <a:rPr sz="1200" dirty="0"/>
              <a:t>LANGGRAPH STATE MACHINE</a:t>
            </a:r>
          </a:p>
          <a:p>
            <a:pPr>
              <a:defRPr sz="700">
                <a:solidFill>
                  <a:srgbClr val="ABB2BF"/>
                </a:solidFill>
                <a:latin typeface="Courier New"/>
              </a:defRPr>
            </a:pPr>
            <a:r>
              <a:rPr sz="900" dirty="0"/>
              <a:t>from </a:t>
            </a:r>
            <a:r>
              <a:rPr sz="900" dirty="0" err="1"/>
              <a:t>langgraph.graph</a:t>
            </a:r>
            <a:r>
              <a:rPr sz="900" dirty="0"/>
              <a:t> import </a:t>
            </a:r>
            <a:r>
              <a:rPr sz="900" dirty="0" err="1"/>
              <a:t>StateGraph</a:t>
            </a:r>
            <a:br>
              <a:rPr sz="900" dirty="0"/>
            </a:br>
            <a:br>
              <a:rPr sz="900" dirty="0"/>
            </a:br>
            <a:r>
              <a:rPr sz="900" dirty="0"/>
              <a:t>class </a:t>
            </a:r>
            <a:r>
              <a:rPr sz="900" dirty="0" err="1"/>
              <a:t>AgentState</a:t>
            </a:r>
            <a:r>
              <a:rPr sz="900" dirty="0"/>
              <a:t>(</a:t>
            </a:r>
            <a:r>
              <a:rPr sz="900" dirty="0" err="1"/>
              <a:t>TypedDict</a:t>
            </a:r>
            <a:r>
              <a:rPr sz="900" dirty="0"/>
              <a:t>):</a:t>
            </a:r>
            <a:br>
              <a:rPr sz="900" dirty="0"/>
            </a:br>
            <a:r>
              <a:rPr sz="900" dirty="0"/>
              <a:t>    </a:t>
            </a:r>
            <a:r>
              <a:rPr sz="900" dirty="0" err="1"/>
              <a:t>risk_score</a:t>
            </a:r>
            <a:r>
              <a:rPr sz="900" dirty="0"/>
              <a:t>: int</a:t>
            </a:r>
            <a:br>
              <a:rPr sz="900" dirty="0"/>
            </a:br>
            <a:r>
              <a:rPr sz="900" dirty="0"/>
              <a:t>    </a:t>
            </a:r>
            <a:r>
              <a:rPr sz="900" dirty="0" err="1"/>
              <a:t>root_cause</a:t>
            </a:r>
            <a:r>
              <a:rPr sz="900" dirty="0"/>
              <a:t>: str</a:t>
            </a:r>
            <a:br>
              <a:rPr sz="900" dirty="0"/>
            </a:br>
            <a:r>
              <a:rPr sz="900" dirty="0"/>
              <a:t>    </a:t>
            </a:r>
            <a:r>
              <a:rPr sz="900" dirty="0" err="1"/>
              <a:t>week_bucket</a:t>
            </a:r>
            <a:r>
              <a:rPr sz="900" dirty="0"/>
              <a:t>: str</a:t>
            </a:r>
            <a:br>
              <a:rPr sz="900" dirty="0"/>
            </a:br>
            <a:br>
              <a:rPr sz="900" dirty="0"/>
            </a:br>
            <a:r>
              <a:rPr sz="900" dirty="0"/>
              <a:t>builder = </a:t>
            </a:r>
            <a:r>
              <a:rPr sz="900" dirty="0" err="1"/>
              <a:t>StateGraph</a:t>
            </a:r>
            <a:r>
              <a:rPr sz="900" dirty="0"/>
              <a:t>(</a:t>
            </a:r>
            <a:r>
              <a:rPr sz="900" dirty="0" err="1"/>
              <a:t>AgentState</a:t>
            </a:r>
            <a:r>
              <a:rPr sz="900" dirty="0"/>
              <a:t>)</a:t>
            </a:r>
            <a:br>
              <a:rPr sz="900" dirty="0"/>
            </a:br>
            <a:r>
              <a:rPr sz="900" dirty="0" err="1"/>
              <a:t>builder.add_node</a:t>
            </a:r>
            <a:r>
              <a:rPr sz="900" dirty="0"/>
              <a:t>("risk", </a:t>
            </a:r>
            <a:r>
              <a:rPr sz="900" dirty="0" err="1"/>
              <a:t>risk_agent</a:t>
            </a:r>
            <a:r>
              <a:rPr sz="900" dirty="0"/>
              <a:t>)</a:t>
            </a:r>
            <a:br>
              <a:rPr sz="900" dirty="0"/>
            </a:br>
            <a:r>
              <a:rPr sz="900" dirty="0" err="1"/>
              <a:t>builder.add_node</a:t>
            </a:r>
            <a:r>
              <a:rPr sz="900" dirty="0"/>
              <a:t>("classify", classifier)</a:t>
            </a:r>
            <a:br>
              <a:rPr sz="900" dirty="0"/>
            </a:br>
            <a:br>
              <a:rPr sz="900" dirty="0"/>
            </a:br>
            <a:r>
              <a:rPr sz="900" dirty="0" err="1"/>
              <a:t>builder.add_conditional_edges</a:t>
            </a:r>
            <a:r>
              <a:rPr sz="900" dirty="0"/>
              <a:t>(</a:t>
            </a:r>
            <a:br>
              <a:rPr sz="900" dirty="0"/>
            </a:br>
            <a:r>
              <a:rPr sz="900" dirty="0"/>
              <a:t>    "risk", </a:t>
            </a:r>
            <a:r>
              <a:rPr sz="900" dirty="0" err="1"/>
              <a:t>route_by_severity</a:t>
            </a:r>
            <a:r>
              <a:rPr sz="900" dirty="0"/>
              <a:t>,</a:t>
            </a:r>
            <a:br>
              <a:rPr sz="900" dirty="0"/>
            </a:br>
            <a:r>
              <a:rPr sz="900" dirty="0"/>
              <a:t>    {"low": END, "high": "classify"}</a:t>
            </a:r>
            <a:br>
              <a:rPr sz="900" dirty="0"/>
            </a:br>
            <a:r>
              <a:rPr sz="900" dirty="0"/>
              <a:t>)</a:t>
            </a:r>
            <a:br>
              <a:rPr sz="900" dirty="0"/>
            </a:br>
            <a:br>
              <a:rPr sz="900" dirty="0"/>
            </a:br>
            <a:r>
              <a:rPr sz="900" dirty="0"/>
              <a:t>app = </a:t>
            </a:r>
            <a:r>
              <a:rPr sz="900" dirty="0" err="1"/>
              <a:t>builder.compile</a:t>
            </a:r>
            <a:r>
              <a:rPr sz="900" dirty="0"/>
              <a:t>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2071246"/>
            <a:ext cx="4206240" cy="1803058"/>
          </a:xfrm>
          <a:prstGeom prst="rect">
            <a:avLst/>
          </a:prstGeom>
          <a:noFill/>
          <a:ln w="25400">
            <a:solidFill>
              <a:srgbClr val="9C27B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9C27B0"/>
                </a:solidFill>
              </a:defRPr>
            </a:pPr>
            <a:r>
              <a:rPr sz="1200" dirty="0"/>
              <a:t>AGENT IMPLEMENTATION</a:t>
            </a:r>
          </a:p>
          <a:p>
            <a:pPr>
              <a:spcAft>
                <a:spcPts val="400"/>
              </a:spcAft>
              <a:defRPr sz="800"/>
            </a:pPr>
            <a:r>
              <a:rPr lang="en-US" sz="1000" dirty="0"/>
              <a:t>• Data Quality → LangChain DataLoader + Great Expectations</a:t>
            </a:r>
          </a:p>
          <a:p>
            <a:pPr>
              <a:spcAft>
                <a:spcPts val="400"/>
              </a:spcAft>
              <a:defRPr sz="800"/>
            </a:pPr>
            <a:r>
              <a:rPr sz="1000" dirty="0"/>
              <a:t>• Risk Detection → ML (Random Forest) + NumPy scoring: 5 factors (OTIF gap, WIP, capacity, product mix with UPH-weighting, cross-week impact)</a:t>
            </a:r>
          </a:p>
          <a:p>
            <a:pPr>
              <a:spcAft>
                <a:spcPts val="400"/>
              </a:spcAft>
              <a:defRPr sz="800"/>
            </a:pPr>
            <a:r>
              <a:rPr lang="en-US" sz="1000" dirty="0"/>
              <a:t>• Cause Classifier → LLMChain + Pydantic | RAG: top-5 incidents</a:t>
            </a:r>
          </a:p>
          <a:p>
            <a:pPr>
              <a:spcAft>
                <a:spcPts val="400"/>
              </a:spcAft>
              <a:defRPr sz="800"/>
            </a:pPr>
            <a:r>
              <a:rPr lang="en-US" sz="1000" dirty="0"/>
              <a:t>• Follow-Up → ReAct Agent | Tools: Slack, email, CMMS</a:t>
            </a:r>
          </a:p>
          <a:p>
            <a:pPr>
              <a:spcAft>
                <a:spcPts val="400"/>
              </a:spcAft>
              <a:defRPr sz="800"/>
            </a:pPr>
            <a:r>
              <a:rPr sz="1000" dirty="0"/>
              <a:t>• Trade-Off → OR-Tools SCIP | Capacity allocation per product per week with cross-week buffers</a:t>
            </a:r>
          </a:p>
          <a:p>
            <a:pPr>
              <a:spcAft>
                <a:spcPts val="400"/>
              </a:spcAft>
              <a:defRPr sz="800"/>
            </a:pPr>
            <a:r>
              <a:rPr lang="en-US" sz="1000" dirty="0"/>
              <a:t>• Action &amp; Audit → ToolExecutor | Hash-chained audit 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807390"/>
            <a:ext cx="8595360" cy="1561966"/>
          </a:xfrm>
          <a:prstGeom prst="rect">
            <a:avLst/>
          </a:prstGeom>
          <a:solidFill>
            <a:srgbClr val="282C34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FFFFFF"/>
                </a:solidFill>
              </a:defRPr>
            </a:pPr>
            <a:r>
              <a:rPr sz="1200" dirty="0"/>
              <a:t>PYDANTIC MODELS (STRUCTURED OUTPUT)</a:t>
            </a:r>
          </a:p>
          <a:p>
            <a:pPr>
              <a:defRPr sz="800">
                <a:solidFill>
                  <a:srgbClr val="ABB2BF"/>
                </a:solidFill>
                <a:latin typeface="Courier New"/>
              </a:defRPr>
            </a:pPr>
            <a:r>
              <a:rPr sz="900" dirty="0"/>
              <a:t>class </a:t>
            </a:r>
            <a:r>
              <a:rPr sz="900" dirty="0" err="1"/>
              <a:t>RiskAssessment</a:t>
            </a:r>
            <a:r>
              <a:rPr sz="900" dirty="0"/>
              <a:t>(</a:t>
            </a:r>
            <a:r>
              <a:rPr sz="900" dirty="0" err="1"/>
              <a:t>BaseModel</a:t>
            </a:r>
            <a:r>
              <a:rPr sz="900" dirty="0"/>
              <a:t>):</a:t>
            </a:r>
            <a:br>
              <a:rPr sz="900" dirty="0"/>
            </a:br>
            <a:r>
              <a:rPr sz="900" dirty="0"/>
              <a:t>    </a:t>
            </a:r>
            <a:r>
              <a:rPr sz="900" dirty="0" err="1"/>
              <a:t>risk_score</a:t>
            </a:r>
            <a:r>
              <a:rPr sz="900" dirty="0"/>
              <a:t>: int = Field(</a:t>
            </a:r>
            <a:r>
              <a:rPr sz="900" dirty="0" err="1"/>
              <a:t>ge</a:t>
            </a:r>
            <a:r>
              <a:rPr sz="900" dirty="0"/>
              <a:t>=0, le=100)</a:t>
            </a:r>
            <a:br>
              <a:rPr sz="900" dirty="0"/>
            </a:br>
            <a:r>
              <a:rPr sz="900" dirty="0"/>
              <a:t>    </a:t>
            </a:r>
            <a:r>
              <a:rPr sz="900" dirty="0" err="1"/>
              <a:t>week_bucket</a:t>
            </a:r>
            <a:r>
              <a:rPr sz="900" dirty="0"/>
              <a:t>: Literal["W1", "W2", "W3", "W4"]</a:t>
            </a:r>
            <a:br>
              <a:rPr sz="900" dirty="0"/>
            </a:br>
            <a:r>
              <a:rPr sz="900" dirty="0"/>
              <a:t>    citations: List[str]</a:t>
            </a:r>
            <a:br>
              <a:rPr sz="900" dirty="0"/>
            </a:br>
            <a:br>
              <a:rPr sz="900" dirty="0"/>
            </a:br>
            <a:r>
              <a:rPr sz="900" dirty="0"/>
              <a:t>class </a:t>
            </a:r>
            <a:r>
              <a:rPr sz="900" dirty="0" err="1"/>
              <a:t>RootCause</a:t>
            </a:r>
            <a:r>
              <a:rPr sz="900" dirty="0"/>
              <a:t>(</a:t>
            </a:r>
            <a:r>
              <a:rPr sz="900" dirty="0" err="1"/>
              <a:t>BaseModel</a:t>
            </a:r>
            <a:r>
              <a:rPr sz="900" dirty="0"/>
              <a:t>):</a:t>
            </a:r>
            <a:br>
              <a:rPr sz="900" dirty="0"/>
            </a:br>
            <a:r>
              <a:rPr sz="900" dirty="0"/>
              <a:t>    cause: Literal["DOWNTIME", "UPH_DEGRADATION", "WIP_QUEUE", "MATERIAL"]</a:t>
            </a:r>
            <a:br>
              <a:rPr sz="900" dirty="0"/>
            </a:br>
            <a:r>
              <a:rPr sz="900" dirty="0"/>
              <a:t>    confidence: float = Field(</a:t>
            </a:r>
            <a:r>
              <a:rPr sz="900" dirty="0" err="1"/>
              <a:t>ge</a:t>
            </a:r>
            <a:r>
              <a:rPr sz="900" dirty="0"/>
              <a:t>=0.0, le=1.0)</a:t>
            </a:r>
            <a:br>
              <a:rPr sz="900" dirty="0"/>
            </a:br>
            <a:r>
              <a:rPr sz="900" dirty="0"/>
              <a:t>    recommendation: Literal["AUTO", "APPROVAL", "BLOCKED"]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8351" y="6583680"/>
            <a:ext cx="158729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</a:defRPr>
            </a:pPr>
            <a:r>
              <a:rPr dirty="0"/>
              <a:t>Agentic AI for Delivery Assurance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D233A"/>
          </a:solidFill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4: Trade-Off Engine &amp;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0" y="4572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OR-Tools |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19" y="731519"/>
            <a:ext cx="4344063" cy="2639184"/>
          </a:xfrm>
          <a:prstGeom prst="rect">
            <a:avLst/>
          </a:prstGeom>
          <a:solidFill>
            <a:srgbClr val="282C34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FFFFFF"/>
                </a:solidFill>
              </a:defRPr>
            </a:pPr>
            <a:r>
              <a:rPr sz="1200" dirty="0"/>
              <a:t>TRADE-OFF ENGINE (OR-TOOLS)</a:t>
            </a:r>
          </a:p>
          <a:p>
            <a:pPr>
              <a:defRPr sz="700">
                <a:solidFill>
                  <a:srgbClr val="ABB2BF"/>
                </a:solidFill>
                <a:latin typeface="Courier New"/>
              </a:defRPr>
            </a:pPr>
            <a:r>
              <a:rPr sz="800" dirty="0"/>
              <a:t>from </a:t>
            </a:r>
            <a:r>
              <a:rPr sz="800" dirty="0" err="1"/>
              <a:t>ortools.linear_solver</a:t>
            </a:r>
            <a:r>
              <a:rPr sz="800" dirty="0"/>
              <a:t> import </a:t>
            </a:r>
            <a:r>
              <a:rPr sz="800" dirty="0" err="1"/>
              <a:t>pywraplp</a:t>
            </a:r>
            <a:br>
              <a:rPr sz="800" dirty="0"/>
            </a:br>
            <a:br>
              <a:rPr sz="800" dirty="0"/>
            </a:br>
            <a:r>
              <a:rPr sz="800" dirty="0"/>
              <a:t>solver = </a:t>
            </a:r>
            <a:r>
              <a:rPr sz="800" dirty="0" err="1"/>
              <a:t>pywraplp.Solver.CreateSolver</a:t>
            </a:r>
            <a:r>
              <a:rPr sz="800" dirty="0"/>
              <a:t>('SCIP')</a:t>
            </a:r>
            <a:br>
              <a:rPr sz="800" dirty="0"/>
            </a:br>
            <a:br>
              <a:rPr sz="800" dirty="0"/>
            </a:br>
            <a:r>
              <a:rPr sz="800" dirty="0" err="1"/>
              <a:t>alloc</a:t>
            </a:r>
            <a:r>
              <a:rPr sz="800" dirty="0"/>
              <a:t> = {}</a:t>
            </a:r>
            <a:br>
              <a:rPr sz="800" dirty="0"/>
            </a:br>
            <a:r>
              <a:rPr sz="800" dirty="0"/>
              <a:t>for week in weeks:</a:t>
            </a:r>
            <a:br>
              <a:rPr sz="800" dirty="0"/>
            </a:br>
            <a:r>
              <a:rPr sz="800" dirty="0"/>
              <a:t>    for fam in products:</a:t>
            </a:r>
            <a:br>
              <a:rPr sz="800" dirty="0"/>
            </a:br>
            <a:r>
              <a:rPr sz="800" dirty="0"/>
              <a:t>        </a:t>
            </a:r>
            <a:r>
              <a:rPr sz="800" dirty="0" err="1"/>
              <a:t>alloc</a:t>
            </a:r>
            <a:r>
              <a:rPr sz="800" dirty="0"/>
              <a:t>[</a:t>
            </a:r>
            <a:r>
              <a:rPr sz="800" dirty="0" err="1"/>
              <a:t>week,fam</a:t>
            </a:r>
            <a:r>
              <a:rPr sz="800" dirty="0"/>
              <a:t>] = </a:t>
            </a:r>
            <a:r>
              <a:rPr sz="800" dirty="0" err="1"/>
              <a:t>solver.NumVar</a:t>
            </a:r>
            <a:r>
              <a:rPr sz="800" dirty="0"/>
              <a:t>(</a:t>
            </a:r>
            <a:br>
              <a:rPr sz="800" dirty="0"/>
            </a:br>
            <a:r>
              <a:rPr sz="800" dirty="0"/>
              <a:t>            0, capacity(week), </a:t>
            </a:r>
            <a:r>
              <a:rPr sz="800" dirty="0" err="1"/>
              <a:t>f"alloc</a:t>
            </a:r>
            <a:r>
              <a:rPr sz="800" dirty="0"/>
              <a:t>_{week}_{fam}"</a:t>
            </a:r>
            <a:br>
              <a:rPr sz="800" dirty="0"/>
            </a:br>
            <a:r>
              <a:rPr sz="800" dirty="0"/>
              <a:t>        )</a:t>
            </a:r>
            <a:br>
              <a:rPr sz="800" dirty="0"/>
            </a:br>
            <a:br>
              <a:rPr sz="800" dirty="0"/>
            </a:br>
            <a:r>
              <a:rPr sz="800" dirty="0" err="1"/>
              <a:t>solver.Add</a:t>
            </a:r>
            <a:r>
              <a:rPr sz="800" dirty="0"/>
              <a:t>(</a:t>
            </a:r>
            <a:r>
              <a:rPr sz="800" dirty="0" err="1"/>
              <a:t>alloc</a:t>
            </a:r>
            <a:r>
              <a:rPr sz="800" dirty="0"/>
              <a:t> &gt;= </a:t>
            </a:r>
            <a:r>
              <a:rPr sz="800" dirty="0" err="1"/>
              <a:t>min_load</a:t>
            </a:r>
            <a:r>
              <a:rPr sz="800" dirty="0"/>
              <a:t>)</a:t>
            </a:r>
            <a:br>
              <a:rPr sz="800" dirty="0"/>
            </a:br>
            <a:r>
              <a:rPr sz="800" dirty="0"/>
              <a:t>buffer = capacity(week) * 0.12</a:t>
            </a:r>
            <a:br>
              <a:rPr sz="800" dirty="0"/>
            </a:br>
            <a:r>
              <a:rPr sz="800" dirty="0" err="1"/>
              <a:t>solver.Add</a:t>
            </a:r>
            <a:r>
              <a:rPr sz="800" dirty="0"/>
              <a:t>(sum(</a:t>
            </a:r>
            <a:r>
              <a:rPr sz="800" dirty="0" err="1"/>
              <a:t>alloc</a:t>
            </a:r>
            <a:r>
              <a:rPr sz="800" dirty="0"/>
              <a:t>) &lt;= capacity - buffer)</a:t>
            </a:r>
            <a:br>
              <a:rPr sz="800" dirty="0"/>
            </a:br>
            <a:br>
              <a:rPr sz="800" dirty="0"/>
            </a:br>
            <a:r>
              <a:rPr sz="800" dirty="0" err="1"/>
              <a:t>solver.Maximize</a:t>
            </a:r>
            <a:r>
              <a:rPr sz="800" dirty="0"/>
              <a:t>(sum(</a:t>
            </a:r>
            <a:br>
              <a:rPr sz="800" dirty="0"/>
            </a:br>
            <a:r>
              <a:rPr sz="800" dirty="0"/>
              <a:t>    </a:t>
            </a:r>
            <a:r>
              <a:rPr sz="800" dirty="0" err="1"/>
              <a:t>otif_weight</a:t>
            </a:r>
            <a:r>
              <a:rPr sz="800" dirty="0"/>
              <a:t>(</a:t>
            </a:r>
            <a:r>
              <a:rPr sz="800" dirty="0" err="1"/>
              <a:t>w,f</a:t>
            </a:r>
            <a:r>
              <a:rPr sz="800" dirty="0"/>
              <a:t>) * </a:t>
            </a:r>
            <a:r>
              <a:rPr sz="800" dirty="0" err="1"/>
              <a:t>alloc</a:t>
            </a:r>
            <a:r>
              <a:rPr sz="800" dirty="0"/>
              <a:t>[</a:t>
            </a:r>
            <a:r>
              <a:rPr sz="800" dirty="0" err="1"/>
              <a:t>w,f</a:t>
            </a:r>
            <a:r>
              <a:rPr sz="800" dirty="0"/>
              <a:t>]</a:t>
            </a:r>
            <a:br>
              <a:rPr sz="800" dirty="0"/>
            </a:br>
            <a:r>
              <a:rPr sz="800" dirty="0"/>
              <a:t>    for w in weeks for f in products</a:t>
            </a:r>
            <a:br>
              <a:rPr sz="800" dirty="0"/>
            </a:br>
            <a:r>
              <a:rPr sz="800" dirty="0"/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731519"/>
            <a:ext cx="4203590" cy="1405513"/>
          </a:xfrm>
          <a:prstGeom prst="rect">
            <a:avLst/>
          </a:prstGeom>
          <a:noFill/>
          <a:ln w="25400">
            <a:solidFill>
              <a:srgbClr val="DC3545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C3545"/>
                </a:solidFill>
              </a:defRPr>
            </a:pPr>
            <a:r>
              <a:rPr dirty="0"/>
              <a:t>GUARDRAILS</a:t>
            </a:r>
          </a:p>
          <a:p>
            <a:pPr>
              <a:spcAft>
                <a:spcPts val="400"/>
              </a:spcAft>
              <a:defRPr sz="900"/>
            </a:pPr>
            <a:r>
              <a:rPr sz="1000" dirty="0"/>
              <a:t>• Bottleneck Protection: W1 expedite beyond threshold → BLOCKED</a:t>
            </a:r>
          </a:p>
          <a:p>
            <a:pPr>
              <a:spcAft>
                <a:spcPts val="400"/>
              </a:spcAft>
              <a:defRPr sz="900"/>
            </a:pPr>
            <a:r>
              <a:rPr sz="1000" dirty="0"/>
              <a:t>• Mix Balance: UPH-weighted capacity (Product A: 2 hrs/unit vs Product B: 1.5 hrs/unit)</a:t>
            </a:r>
          </a:p>
          <a:p>
            <a:pPr>
              <a:spcAft>
                <a:spcPts val="400"/>
              </a:spcAft>
              <a:defRPr sz="900"/>
            </a:pPr>
            <a:r>
              <a:rPr sz="1000" dirty="0"/>
              <a:t>• Capacity Reservation: W2-W4 keep buffer (e.g., 100 hrs of 500 hrs reserved for W2)</a:t>
            </a:r>
          </a:p>
          <a:p>
            <a:pPr>
              <a:spcAft>
                <a:spcPts val="400"/>
              </a:spcAft>
              <a:defRPr sz="900"/>
            </a:pPr>
            <a:r>
              <a:rPr sz="1000" dirty="0"/>
              <a:t>• Cross-Week Impact: W1 can't reduce W2 &gt;10%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3670" y="2220864"/>
            <a:ext cx="4114800" cy="1274708"/>
          </a:xfrm>
          <a:prstGeom prst="rect">
            <a:avLst/>
          </a:prstGeom>
          <a:solidFill>
            <a:srgbClr val="282C34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FFFFFF"/>
                </a:solidFill>
              </a:defRPr>
            </a:pPr>
            <a:r>
              <a:rPr sz="1200" dirty="0"/>
              <a:t>IMMUTABLE AUDIT LOG</a:t>
            </a:r>
          </a:p>
          <a:p>
            <a:pPr>
              <a:spcAft>
                <a:spcPts val="200"/>
              </a:spcAft>
              <a:defRPr sz="800">
                <a:solidFill>
                  <a:srgbClr val="C8C8C8"/>
                </a:solidFill>
              </a:defRPr>
            </a:pPr>
            <a:r>
              <a:rPr sz="900" dirty="0"/>
              <a:t>• PostgreSQL JSONB + SHA-256 chain</a:t>
            </a:r>
          </a:p>
          <a:p>
            <a:pPr>
              <a:spcAft>
                <a:spcPts val="200"/>
              </a:spcAft>
              <a:defRPr sz="800">
                <a:solidFill>
                  <a:srgbClr val="C8C8C8"/>
                </a:solidFill>
              </a:defRPr>
            </a:pPr>
            <a:r>
              <a:rPr sz="900" dirty="0"/>
              <a:t>• Each entry: action, rationale, citations, impact forecast vs actual</a:t>
            </a:r>
          </a:p>
          <a:p>
            <a:pPr>
              <a:spcAft>
                <a:spcPts val="200"/>
              </a:spcAft>
              <a:defRPr sz="800">
                <a:solidFill>
                  <a:srgbClr val="C8C8C8"/>
                </a:solidFill>
              </a:defRPr>
            </a:pPr>
            <a:r>
              <a:rPr sz="900" dirty="0"/>
              <a:t>• LangSmith trace ID for observability</a:t>
            </a:r>
          </a:p>
          <a:p>
            <a:pPr>
              <a:spcAft>
                <a:spcPts val="200"/>
              </a:spcAft>
              <a:defRPr sz="800">
                <a:solidFill>
                  <a:srgbClr val="C8C8C8"/>
                </a:solidFill>
              </a:defRPr>
            </a:pPr>
            <a:r>
              <a:rPr sz="900" dirty="0"/>
              <a:t>• 7-year retention (compliance)</a:t>
            </a:r>
          </a:p>
          <a:p>
            <a:pPr>
              <a:spcAft>
                <a:spcPts val="200"/>
              </a:spcAft>
              <a:defRPr sz="800">
                <a:solidFill>
                  <a:srgbClr val="C8C8C8"/>
                </a:solidFill>
              </a:defRPr>
            </a:pPr>
            <a:endParaRPr sz="900" dirty="0"/>
          </a:p>
          <a:p>
            <a:pPr>
              <a:spcAft>
                <a:spcPts val="200"/>
              </a:spcAft>
              <a:defRPr sz="800">
                <a:solidFill>
                  <a:srgbClr val="C8C8C8"/>
                </a:solidFill>
              </a:defRPr>
            </a:pPr>
            <a:r>
              <a:rPr sz="900" dirty="0"/>
              <a:t>Why? Manufacturing quality audits require tamper-evident trails.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8351" y="6583680"/>
            <a:ext cx="158729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</a:defRPr>
            </a:pPr>
            <a:r>
              <a:rPr dirty="0"/>
              <a:t>Agentic AI for Delivery Assurance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3318550"/>
              </p:ext>
            </p:extLst>
          </p:nvPr>
        </p:nvGraphicFramePr>
        <p:xfrm>
          <a:off x="272992" y="3831859"/>
          <a:ext cx="8598012" cy="22018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7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1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28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28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8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46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6543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000"/>
                        <a:t>Action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000"/>
                        <a:t>W1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000"/>
                        <a:t>W2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000"/>
                        <a:t>W3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000"/>
                        <a:t>W4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000"/>
                        <a:t>Reasoning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543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1000" dirty="0"/>
                        <a:t>Flag lot priority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AUTO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AUTO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1000"/>
                        <a:t>Tactical vs strategic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895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1000" dirty="0"/>
                        <a:t>Create ticket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 dirty="0"/>
                        <a:t>AUTO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 dirty="0"/>
                        <a:t>AUTO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AUTO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AUTO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1000" dirty="0"/>
                        <a:t>Read-only, reversible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6543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1000" dirty="0"/>
                        <a:t>Re-sequence lots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 dirty="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 dirty="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1000"/>
                        <a:t>Affects customers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895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1000"/>
                        <a:t>Expedite / break FIFO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 dirty="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Block</a:t>
                      </a:r>
                    </a:p>
                  </a:txBody>
                  <a:tcPr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 dirty="0"/>
                        <a:t>Block</a:t>
                      </a:r>
                    </a:p>
                  </a:txBody>
                  <a:tcPr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1000"/>
                        <a:t>W3-W4 = panic mode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895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1000" dirty="0"/>
                        <a:t>Release </a:t>
                      </a:r>
                      <a:r>
                        <a:rPr sz="1000" dirty="0" err="1"/>
                        <a:t>eng</a:t>
                      </a:r>
                      <a:r>
                        <a:rPr sz="1000" dirty="0"/>
                        <a:t> hold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1000" dirty="0"/>
                        <a:t>Domain expert needed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6545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1000"/>
                        <a:t>Reallocate capacity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Block</a:t>
                      </a:r>
                    </a:p>
                  </a:txBody>
                  <a:tcPr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rPr sz="1000"/>
                        <a:t>Appr</a:t>
                      </a:r>
                    </a:p>
                  </a:txBody>
                  <a:tcPr anchor="ctr"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1000" dirty="0"/>
                        <a:t>W1 too late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23961" y="3495572"/>
            <a:ext cx="258384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9800"/>
                </a:solidFill>
              </a:defRPr>
            </a:pPr>
            <a:r>
              <a:rPr sz="1200" dirty="0"/>
              <a:t>HUMAN-IN-THE-LOOP &amp; AUDIT TRAIL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D233A"/>
          </a:solidFill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5: KPIs &amp; 4-Week MVP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0" y="4572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Evaluation Metrics | Shadow Mode →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63404"/>
            <a:ext cx="8595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233A"/>
                </a:solidFill>
              </a:defRPr>
            </a:pPr>
            <a:r>
              <a:rPr dirty="0"/>
              <a:t>EVALUATION KPIs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8" y="921076"/>
            <a:ext cx="2920992" cy="7745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C3545"/>
                </a:solidFill>
              </a:defRPr>
            </a:pPr>
            <a:r>
              <a:rPr sz="1100" dirty="0"/>
              <a:t>Delivery</a:t>
            </a:r>
          </a:p>
          <a:p>
            <a:pPr>
              <a:spcAft>
                <a:spcPts val="100"/>
              </a:spcAft>
              <a:defRPr sz="800"/>
            </a:pPr>
            <a:r>
              <a:rPr sz="1000" dirty="0"/>
              <a:t>• OTIF improvement by week AND by product family</a:t>
            </a:r>
          </a:p>
          <a:p>
            <a:pPr>
              <a:spcAft>
                <a:spcPts val="100"/>
              </a:spcAft>
              <a:defRPr sz="800"/>
            </a:pPr>
            <a:r>
              <a:rPr sz="1000" dirty="0"/>
              <a:t>• Commit accuracy</a:t>
            </a:r>
          </a:p>
          <a:p>
            <a:pPr>
              <a:spcAft>
                <a:spcPts val="100"/>
              </a:spcAft>
              <a:defRPr sz="800"/>
            </a:pPr>
            <a:r>
              <a:rPr sz="1000" dirty="0"/>
              <a:t>• False positive kept 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926467"/>
            <a:ext cx="2574744" cy="10951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9688"/>
                </a:solidFill>
              </a:defRPr>
            </a:pPr>
            <a:r>
              <a:rPr sz="1100" dirty="0"/>
              <a:t>Operational</a:t>
            </a:r>
          </a:p>
          <a:p>
            <a:pPr>
              <a:spcAft>
                <a:spcPts val="100"/>
              </a:spcAft>
              <a:defRPr sz="800"/>
            </a:pPr>
            <a:r>
              <a:rPr sz="1000" dirty="0"/>
              <a:t>• Detection lead &gt;48 hrs</a:t>
            </a:r>
          </a:p>
          <a:p>
            <a:pPr>
              <a:spcAft>
                <a:spcPts val="100"/>
              </a:spcAft>
              <a:defRPr sz="800"/>
            </a:pPr>
            <a:r>
              <a:rPr sz="1000" dirty="0"/>
              <a:t>• Expedite volume reduction</a:t>
            </a:r>
          </a:p>
          <a:p>
            <a:pPr>
              <a:spcAft>
                <a:spcPts val="100"/>
              </a:spcAft>
              <a:defRPr sz="800"/>
            </a:pPr>
            <a:r>
              <a:rPr sz="1000" dirty="0"/>
              <a:t>• WIP queue time</a:t>
            </a:r>
          </a:p>
          <a:p>
            <a:pPr>
              <a:spcAft>
                <a:spcPts val="100"/>
              </a:spcAft>
              <a:defRPr sz="800"/>
            </a:pPr>
            <a:r>
              <a:rPr sz="1000" dirty="0"/>
              <a:t>• OEE stability</a:t>
            </a:r>
            <a:br>
              <a:rPr sz="1000" dirty="0"/>
            </a:br>
            <a:r>
              <a:rPr sz="1000" dirty="0"/>
              <a:t>• Bottleneck capacity balance across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9343" y="921076"/>
            <a:ext cx="1744388" cy="9284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9800"/>
                </a:solidFill>
              </a:defRPr>
            </a:pPr>
            <a:r>
              <a:rPr sz="1100" dirty="0"/>
              <a:t>Agent Perf</a:t>
            </a:r>
          </a:p>
          <a:p>
            <a:pPr>
              <a:spcAft>
                <a:spcPts val="100"/>
              </a:spcAft>
              <a:defRPr sz="800"/>
            </a:pPr>
            <a:r>
              <a:rPr sz="1000" dirty="0"/>
              <a:t>• Closure time &lt;4 hrs (W1)</a:t>
            </a:r>
          </a:p>
          <a:p>
            <a:pPr>
              <a:spcAft>
                <a:spcPts val="100"/>
              </a:spcAft>
              <a:defRPr sz="800"/>
            </a:pPr>
            <a:r>
              <a:rPr sz="1000" dirty="0"/>
              <a:t>• Acceptance high</a:t>
            </a:r>
          </a:p>
          <a:p>
            <a:pPr>
              <a:spcAft>
                <a:spcPts val="100"/>
              </a:spcAft>
              <a:defRPr sz="800"/>
            </a:pPr>
            <a:r>
              <a:rPr sz="1000" dirty="0"/>
              <a:t>• Effort saved</a:t>
            </a:r>
            <a:br>
              <a:rPr sz="1000" dirty="0"/>
            </a:br>
            <a:r>
              <a:rPr sz="1000" dirty="0"/>
              <a:t>• Cross-week impact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369" y="1895917"/>
            <a:ext cx="8595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233A"/>
                </a:solidFill>
              </a:defRPr>
            </a:pPr>
            <a:r>
              <a:rPr dirty="0"/>
              <a:t>MVP ROADMAP (4 WEEKS)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207873"/>
            <a:ext cx="2011680" cy="954107"/>
          </a:xfrm>
          <a:prstGeom prst="rect">
            <a:avLst/>
          </a:prstGeom>
          <a:solidFill>
            <a:srgbClr val="9C27B0"/>
          </a:solidFill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900" b="1">
                <a:solidFill>
                  <a:srgbClr val="FFFFFF"/>
                </a:solidFill>
              </a:defRPr>
            </a:pPr>
            <a:r>
              <a:rPr sz="1100" dirty="0"/>
              <a:t>WEEK 1: SHADOW</a:t>
            </a:r>
          </a:p>
          <a:p>
            <a:pPr algn="ctr">
              <a:spcAft>
                <a:spcPts val="100"/>
              </a:spcAft>
              <a:defRPr sz="700">
                <a:solidFill>
                  <a:srgbClr val="FFFFFF"/>
                </a:solidFill>
              </a:defRPr>
            </a:pPr>
            <a:r>
              <a:rPr sz="1000" dirty="0"/>
              <a:t>Kafka CDC + PostgreSQL</a:t>
            </a:r>
          </a:p>
          <a:p>
            <a:pPr algn="ctr">
              <a:spcAft>
                <a:spcPts val="100"/>
              </a:spcAft>
              <a:defRPr sz="700">
                <a:solidFill>
                  <a:srgbClr val="FFFFFF"/>
                </a:solidFill>
              </a:defRPr>
            </a:pPr>
            <a:r>
              <a:rPr sz="1000" dirty="0"/>
              <a:t>Risk Detection read-only</a:t>
            </a:r>
          </a:p>
          <a:p>
            <a:pPr algn="ctr">
              <a:spcAft>
                <a:spcPts val="100"/>
              </a:spcAft>
              <a:defRPr sz="700">
                <a:solidFill>
                  <a:srgbClr val="FFFFFF"/>
                </a:solidFill>
              </a:defRPr>
            </a:pPr>
            <a:r>
              <a:rPr sz="1000" dirty="0"/>
              <a:t>Internal monitoring dashboard</a:t>
            </a:r>
          </a:p>
          <a:p>
            <a:pPr algn="ctr">
              <a:spcAft>
                <a:spcPts val="100"/>
              </a:spcAft>
              <a:defRPr sz="700">
                <a:solidFill>
                  <a:srgbClr val="FFFFFF"/>
                </a:solidFill>
              </a:defRPr>
            </a:pPr>
            <a:r>
              <a:rPr sz="1000" dirty="0"/>
              <a:t>GATE: Precision high enough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203296"/>
            <a:ext cx="2011680" cy="1100301"/>
          </a:xfrm>
          <a:prstGeom prst="rect">
            <a:avLst/>
          </a:prstGeom>
          <a:solidFill>
            <a:srgbClr val="0066CC"/>
          </a:solidFill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1400" b="1">
                <a:solidFill>
                  <a:srgbClr val="FFFFFF"/>
                </a:solidFill>
              </a:defRPr>
            </a:pPr>
            <a:r>
              <a:rPr sz="1100" dirty="0"/>
              <a:t>WEEK 2: CLASSIFY</a:t>
            </a:r>
          </a:p>
          <a:p>
            <a:pPr>
              <a:defRPr sz="1200"/>
            </a:pPr>
            <a:r>
              <a:rPr sz="1000" dirty="0">
                <a:solidFill>
                  <a:schemeClr val="bg1"/>
                </a:solidFill>
              </a:rPr>
              <a:t>Cause Classifier + RAG</a:t>
            </a:r>
          </a:p>
          <a:p>
            <a:pPr>
              <a:defRPr sz="1100"/>
            </a:pPr>
            <a:r>
              <a:rPr sz="1000" dirty="0">
                <a:solidFill>
                  <a:schemeClr val="bg1"/>
                </a:solidFill>
              </a:rPr>
              <a:t>Classify root cause (DOWNTIME, WIP_QUEUE, etc.)Advisory mode only</a:t>
            </a:r>
            <a:r>
              <a:rPr lang="en-US" sz="1000" dirty="0">
                <a:solidFill>
                  <a:schemeClr val="bg1"/>
                </a:solidFill>
              </a:rPr>
              <a:t> </a:t>
            </a:r>
            <a:r>
              <a:rPr sz="1000" b="1" dirty="0">
                <a:solidFill>
                  <a:schemeClr val="bg1"/>
                </a:solidFill>
              </a:rPr>
              <a:t>GATE: Classification </a:t>
            </a:r>
            <a:r>
              <a:rPr b="1" dirty="0">
                <a:solidFill>
                  <a:schemeClr val="bg1"/>
                </a:solidFill>
              </a:rPr>
              <a:t>accuracy &gt;80%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207873"/>
            <a:ext cx="2011680" cy="1069524"/>
          </a:xfrm>
          <a:prstGeom prst="rect">
            <a:avLst/>
          </a:prstGeom>
          <a:solidFill>
            <a:srgbClr val="009688"/>
          </a:solidFill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1400" b="1">
                <a:solidFill>
                  <a:srgbClr val="FFFFFF"/>
                </a:solidFill>
              </a:defRPr>
            </a:pPr>
            <a:r>
              <a:rPr sz="1100" dirty="0"/>
              <a:t>WEEK 3: FOLLOW-UP</a:t>
            </a:r>
          </a:p>
          <a:p>
            <a:pPr>
              <a:defRPr sz="1200"/>
            </a:pPr>
            <a:r>
              <a:rPr sz="1000" dirty="0">
                <a:solidFill>
                  <a:schemeClr val="bg1"/>
                </a:solidFill>
              </a:rPr>
              <a:t>Auto-contact right owner</a:t>
            </a:r>
          </a:p>
          <a:p>
            <a:pPr>
              <a:defRPr sz="1100"/>
            </a:pPr>
            <a:r>
              <a:rPr sz="1000" dirty="0">
                <a:solidFill>
                  <a:schemeClr val="bg1"/>
                </a:solidFill>
              </a:rPr>
              <a:t>DOWNTIME → maintenance, WIP_QUEUE → planner</a:t>
            </a:r>
          </a:p>
          <a:p>
            <a:pPr>
              <a:defRPr sz="1100"/>
            </a:pPr>
            <a:r>
              <a:rPr sz="1000" dirty="0">
                <a:solidFill>
                  <a:schemeClr val="bg1"/>
                </a:solidFill>
              </a:rPr>
              <a:t>SLA: 15-min response</a:t>
            </a:r>
          </a:p>
          <a:p>
            <a:pPr>
              <a:defRPr sz="1100" b="1"/>
            </a:pPr>
            <a:r>
              <a:rPr sz="1000" dirty="0">
                <a:solidFill>
                  <a:schemeClr val="bg1"/>
                </a:solidFill>
              </a:rPr>
              <a:t>GATE: Response rate &gt;80%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194633"/>
            <a:ext cx="2011680" cy="1084912"/>
          </a:xfrm>
          <a:prstGeom prst="rect">
            <a:avLst/>
          </a:prstGeom>
          <a:solidFill>
            <a:srgbClr val="FF9800"/>
          </a:solidFill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1400" b="1">
                <a:solidFill>
                  <a:srgbClr val="FFFFFF"/>
                </a:solidFill>
              </a:defRPr>
            </a:pPr>
            <a:r>
              <a:rPr sz="1100" dirty="0"/>
              <a:t>WEEK 4: AUTO</a:t>
            </a:r>
          </a:p>
          <a:p>
            <a:pPr>
              <a:defRPr sz="1100"/>
            </a:pPr>
            <a:r>
              <a:rPr sz="1000" dirty="0">
                <a:solidFill>
                  <a:schemeClr val="bg1"/>
                </a:solidFill>
              </a:rPr>
              <a:t>Trade-Off Engine + CMMS + MES flags</a:t>
            </a:r>
          </a:p>
          <a:p>
            <a:pPr>
              <a:defRPr sz="1100"/>
            </a:pPr>
            <a:r>
              <a:rPr sz="1000" dirty="0">
                <a:solidFill>
                  <a:schemeClr val="bg1"/>
                </a:solidFill>
              </a:rPr>
              <a:t>Auto-execute low-risk (flag, ticket)</a:t>
            </a:r>
          </a:p>
          <a:p>
            <a:pPr>
              <a:defRPr sz="1100"/>
            </a:pPr>
            <a:r>
              <a:rPr sz="1000" dirty="0">
                <a:solidFill>
                  <a:schemeClr val="bg1"/>
                </a:solidFill>
              </a:rPr>
              <a:t>Approval for high-risk (expedite)</a:t>
            </a:r>
          </a:p>
          <a:p>
            <a:pPr>
              <a:defRPr sz="1100" b="1"/>
            </a:pPr>
            <a:r>
              <a:rPr sz="1000" dirty="0">
                <a:solidFill>
                  <a:schemeClr val="bg1"/>
                </a:solidFill>
              </a:rPr>
              <a:t>GATE: OTIF improve + low FP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340794"/>
            <a:ext cx="4114800" cy="1354217"/>
          </a:xfrm>
          <a:prstGeom prst="rect">
            <a:avLst/>
          </a:prstGeom>
          <a:solidFill>
            <a:srgbClr val="F5F5F5"/>
          </a:solidFill>
          <a:ln w="25400">
            <a:solidFill>
              <a:srgbClr val="2196F3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196F3"/>
                </a:solidFill>
              </a:defRPr>
            </a:pPr>
            <a:r>
              <a:rPr sz="1200" dirty="0"/>
              <a:t>INFRASTRUCTURE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• Docker + K8s: Agent containers, API, Celery workers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• Kafka: 3 brokers, 2 replicas, Schema Registry, Connect CDC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• Vector DB: Vector DB/Weaviate | LLM provider embeddings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• PostgreSQL: TimescaleDB, Primary + 2 replicas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• Observability: LangSmith, Prometheus, Grafana, ELK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• CI/CD: GitHub Actions → ArgoCD → 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4049" y="3337355"/>
            <a:ext cx="4297680" cy="1290097"/>
          </a:xfrm>
          <a:prstGeom prst="rect">
            <a:avLst/>
          </a:prstGeom>
          <a:solidFill>
            <a:srgbClr val="E8F5E9"/>
          </a:solidFill>
          <a:ln w="25400">
            <a:solidFill>
              <a:srgbClr val="4CAF5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4CAF50"/>
                </a:solidFill>
              </a:defRPr>
            </a:pPr>
            <a:r>
              <a:rPr sz="1200" dirty="0"/>
              <a:t>TESTING PYRAMID</a:t>
            </a:r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• Unit Tests (Majority):</a:t>
            </a:r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  pytest + mock | hypothesis | Pydantic | Not isolation | Coverage high</a:t>
            </a:r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• Integration (Some):</a:t>
            </a:r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  TestContainers: Kafka + PostgreSQL | LangGraph transitions | API contracts</a:t>
            </a:r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• Evaluation (10%):</a:t>
            </a:r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  LangSmith: 500 incidents | LLM-as-judge | Known-good trade-offs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4191" y="4689856"/>
            <a:ext cx="5625036" cy="456535"/>
          </a:xfrm>
          <a:prstGeom prst="rect">
            <a:avLst/>
          </a:prstGeom>
          <a:solidFill>
            <a:srgbClr val="FFFAF0"/>
          </a:solidFill>
          <a:ln w="25400">
            <a:solidFill>
              <a:srgbClr val="FF980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F9800"/>
                </a:solidFill>
              </a:defRPr>
            </a:pPr>
            <a:r>
              <a:rPr sz="1200" dirty="0"/>
              <a:t>ROI &amp; VALUE</a:t>
            </a:r>
          </a:p>
          <a:p>
            <a:pPr>
              <a:spcAft>
                <a:spcPts val="100"/>
              </a:spcAft>
              <a:defRPr sz="700"/>
            </a:pPr>
            <a:r>
              <a:rPr sz="1000" dirty="0"/>
              <a:t>ROI: Reduced expedites, improved OTIF, planner time saved</a:t>
            </a:r>
            <a:r>
              <a:rPr lang="en-US" sz="1000" dirty="0"/>
              <a:t>  </a:t>
            </a:r>
            <a:r>
              <a:rPr sz="1000" dirty="0"/>
              <a:t>(Avoid one W1 shortage → significant value)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4192" y="5216223"/>
            <a:ext cx="5625035" cy="1354217"/>
          </a:xfrm>
          <a:prstGeom prst="rect">
            <a:avLst/>
          </a:prstGeom>
          <a:noFill/>
          <a:ln w="38100">
            <a:solidFill>
              <a:srgbClr val="DC3545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C3545"/>
                </a:solidFill>
              </a:defRPr>
            </a:pPr>
            <a:r>
              <a:rPr sz="1200" dirty="0"/>
              <a:t>CRITICAL TECHNICAL DECISIONS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1. LangGraph over Airflow: Cyclic workflows (follow-up loops)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2. OR-Tools over LLM: Mathematical guarantees (no hallucination)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3. Custom Python for risk: Latency &lt;100ms (LLM is 1-3 sec)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4. Hash-chained audit: Tamper evidence (compliance)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5. Shadow mode first: Trust building (validate before automate)</a:t>
            </a:r>
          </a:p>
          <a:p>
            <a:pPr>
              <a:spcAft>
                <a:spcPts val="200"/>
              </a:spcAft>
              <a:defRPr sz="700"/>
            </a:pPr>
            <a:r>
              <a:rPr sz="1000" dirty="0"/>
              <a:t>6. Variable W1/W4 cadence: Cost optimization (80% compute cut)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58368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</a:defRPr>
            </a:pPr>
            <a:r>
              <a:t>Agentic AI for Delivery Assurance | AI-Data Scientist Interview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066f97f8-1f65-4440-afff-6cc790915837}" enabled="1" method="Privileged" siteId="{f38a5ecd-2813-4862-b11b-ac1d563c806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982</TotalTime>
  <Words>1875</Words>
  <Application>Microsoft Office PowerPoint</Application>
  <PresentationFormat>On-screen Show (4:3)</PresentationFormat>
  <Paragraphs>223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Rashmi Bhat Kekanaje</cp:lastModifiedBy>
  <cp:revision>1</cp:revision>
  <dcterms:created xsi:type="dcterms:W3CDTF">2013-01-27T09:14:16Z</dcterms:created>
  <dcterms:modified xsi:type="dcterms:W3CDTF">2026-05-12T07:56:21Z</dcterms:modified>
  <cp:category/>
</cp:coreProperties>
</file>